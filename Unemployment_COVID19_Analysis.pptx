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2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2E9E6B"/>
            </a:solidFill>
            <a:ln w="31750" cap="flat">
              <a:solidFill>
                <a:srgbClr val="2E9E6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9E6B"/>
              </a:solidFill>
              <a:ln w="9525" cap="flat">
                <a:solidFill>
                  <a:srgbClr val="2E9E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May'19</c:v>
                </c:pt>
                <c:pt idx="1">
                  <c:v>Jun'19</c:v>
                </c:pt>
                <c:pt idx="2">
                  <c:v>Jul'19</c:v>
                </c:pt>
                <c:pt idx="3">
                  <c:v>Aug'19</c:v>
                </c:pt>
                <c:pt idx="4">
                  <c:v>Sep'19</c:v>
                </c:pt>
                <c:pt idx="5">
                  <c:v>Oct'19</c:v>
                </c:pt>
                <c:pt idx="6">
                  <c:v>Nov'19</c:v>
                </c:pt>
                <c:pt idx="7">
                  <c:v>Dec'19</c:v>
                </c:pt>
                <c:pt idx="8">
                  <c:v>Jan'20</c:v>
                </c:pt>
                <c:pt idx="9">
                  <c:v>Feb'20</c:v>
                </c:pt>
                <c:pt idx="10">
                  <c:v>Mar'20</c:v>
                </c:pt>
                <c:pt idx="11">
                  <c:v>Apr'20</c:v>
                </c:pt>
                <c:pt idx="12">
                  <c:v>May'20</c:v>
                </c:pt>
                <c:pt idx="13">
                  <c:v>Jun'20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7.8</c:v>
                </c:pt>
                <c:pt idx="1">
                  <c:v>8.0</c:v>
                </c:pt>
                <c:pt idx="2">
                  <c:v>7.5</c:v>
                </c:pt>
                <c:pt idx="3">
                  <c:v>7.9</c:v>
                </c:pt>
                <c:pt idx="4">
                  <c:v>8.1</c:v>
                </c:pt>
                <c:pt idx="5">
                  <c:v>7.6</c:v>
                </c:pt>
                <c:pt idx="6">
                  <c:v>7.8</c:v>
                </c:pt>
                <c:pt idx="7">
                  <c:v>8.0</c:v>
                </c:pt>
                <c:pt idx="8">
                  <c:v>7.7</c:v>
                </c:pt>
                <c:pt idx="9">
                  <c:v>7.9</c:v>
                </c:pt>
                <c:pt idx="10">
                  <c:v>9.5</c:v>
                </c:pt>
                <c:pt idx="11">
                  <c:v>13.0</c:v>
                </c:pt>
                <c:pt idx="12">
                  <c:v>12.5</c:v>
                </c:pt>
                <c:pt idx="13">
                  <c:v>11.5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Urban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May'19</c:v>
                </c:pt>
                <c:pt idx="1">
                  <c:v>Jun'19</c:v>
                </c:pt>
                <c:pt idx="2">
                  <c:v>Jul'19</c:v>
                </c:pt>
                <c:pt idx="3">
                  <c:v>Aug'19</c:v>
                </c:pt>
                <c:pt idx="4">
                  <c:v>Sep'19</c:v>
                </c:pt>
                <c:pt idx="5">
                  <c:v>Oct'19</c:v>
                </c:pt>
                <c:pt idx="6">
                  <c:v>Nov'19</c:v>
                </c:pt>
                <c:pt idx="7">
                  <c:v>Dec'19</c:v>
                </c:pt>
                <c:pt idx="8">
                  <c:v>Jan'20</c:v>
                </c:pt>
                <c:pt idx="9">
                  <c:v>Feb'20</c:v>
                </c:pt>
                <c:pt idx="10">
                  <c:v>Mar'20</c:v>
                </c:pt>
                <c:pt idx="11">
                  <c:v>Apr'20</c:v>
                </c:pt>
                <c:pt idx="12">
                  <c:v>May'20</c:v>
                </c:pt>
                <c:pt idx="13">
                  <c:v>Jun'20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10.8</c:v>
                </c:pt>
                <c:pt idx="1">
                  <c:v>11.3</c:v>
                </c:pt>
                <c:pt idx="2">
                  <c:v>11.1</c:v>
                </c:pt>
                <c:pt idx="3">
                  <c:v>11.5</c:v>
                </c:pt>
                <c:pt idx="4">
                  <c:v>11.2</c:v>
                </c:pt>
                <c:pt idx="5">
                  <c:v>10.9</c:v>
                </c:pt>
                <c:pt idx="6">
                  <c:v>11.1</c:v>
                </c:pt>
                <c:pt idx="7">
                  <c:v>11.3</c:v>
                </c:pt>
                <c:pt idx="8">
                  <c:v>11.0</c:v>
                </c:pt>
                <c:pt idx="9">
                  <c:v>11.2</c:v>
                </c:pt>
                <c:pt idx="10">
                  <c:v>16.5</c:v>
                </c:pt>
                <c:pt idx="11">
                  <c:v>27.5</c:v>
                </c:pt>
                <c:pt idx="12">
                  <c:v>26.0</c:v>
                </c:pt>
                <c:pt idx="13">
                  <c:v>25.5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Unemployment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1"/>
                </a:solidFill>
                <a:latin typeface="Calibri"/>
              </a:rPr>
              <a:t>Top 10 States — Peak Post-Lockdown Unemployment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Unemployment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Tripura</c:v>
                </c:pt>
                <c:pt idx="1">
                  <c:v>Puducherry</c:v>
                </c:pt>
                <c:pt idx="2">
                  <c:v>Jharkhand</c:v>
                </c:pt>
                <c:pt idx="3">
                  <c:v>Bihar</c:v>
                </c:pt>
                <c:pt idx="4">
                  <c:v>Haryana</c:v>
                </c:pt>
                <c:pt idx="5">
                  <c:v>Delhi</c:v>
                </c:pt>
                <c:pt idx="6">
                  <c:v>Uttar Pradesh</c:v>
                </c:pt>
                <c:pt idx="7">
                  <c:v>Rajasthan</c:v>
                </c:pt>
                <c:pt idx="8">
                  <c:v>Himachal Pradesh</c:v>
                </c:pt>
                <c:pt idx="9">
                  <c:v>Punjab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76.2</c:v>
                </c:pt>
                <c:pt idx="1">
                  <c:v>71.9</c:v>
                </c:pt>
                <c:pt idx="2">
                  <c:v>52.3</c:v>
                </c:pt>
                <c:pt idx="3">
                  <c:v>47.8</c:v>
                </c:pt>
                <c:pt idx="4">
                  <c:v>44.2</c:v>
                </c:pt>
                <c:pt idx="5">
                  <c:v>42.1</c:v>
                </c:pt>
                <c:pt idx="6">
                  <c:v>39.7</c:v>
                </c:pt>
                <c:pt idx="7">
                  <c:v>36.5</c:v>
                </c:pt>
                <c:pt idx="8">
                  <c:v>34.8</c:v>
                </c:pt>
                <c:pt idx="9">
                  <c:v>32.1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0" i="0" u="none" strike="noStrik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Unemployment Rate (%)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May'19</c:v>
                </c:pt>
                <c:pt idx="1">
                  <c:v>Jun'19</c:v>
                </c:pt>
                <c:pt idx="2">
                  <c:v>Jul'19</c:v>
                </c:pt>
                <c:pt idx="3">
                  <c:v>Aug'19</c:v>
                </c:pt>
                <c:pt idx="4">
                  <c:v>Sep'19</c:v>
                </c:pt>
                <c:pt idx="5">
                  <c:v>Oct'19</c:v>
                </c:pt>
                <c:pt idx="6">
                  <c:v>Nov'19</c:v>
                </c:pt>
                <c:pt idx="7">
                  <c:v>Dec'19</c:v>
                </c:pt>
                <c:pt idx="8">
                  <c:v>Jan'20</c:v>
                </c:pt>
                <c:pt idx="9">
                  <c:v>Feb'20</c:v>
                </c:pt>
                <c:pt idx="10">
                  <c:v>Mar'20</c:v>
                </c:pt>
                <c:pt idx="11">
                  <c:v>Apr'20</c:v>
                </c:pt>
                <c:pt idx="12">
                  <c:v>May'20</c:v>
                </c:pt>
                <c:pt idx="13">
                  <c:v>Jun'20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9.3</c:v>
                </c:pt>
                <c:pt idx="1">
                  <c:v>9.65</c:v>
                </c:pt>
                <c:pt idx="2">
                  <c:v>9.3</c:v>
                </c:pt>
                <c:pt idx="3">
                  <c:v>9.7</c:v>
                </c:pt>
                <c:pt idx="4">
                  <c:v>9.65</c:v>
                </c:pt>
                <c:pt idx="5">
                  <c:v>9.25</c:v>
                </c:pt>
                <c:pt idx="6">
                  <c:v>9.45</c:v>
                </c:pt>
                <c:pt idx="7">
                  <c:v>9.65</c:v>
                </c:pt>
                <c:pt idx="8">
                  <c:v>9.35</c:v>
                </c:pt>
                <c:pt idx="9">
                  <c:v>9.55</c:v>
                </c:pt>
                <c:pt idx="10">
                  <c:v>13.0</c:v>
                </c:pt>
                <c:pt idx="11">
                  <c:v>20.25</c:v>
                </c:pt>
                <c:pt idx="12">
                  <c:v>19.25</c:v>
                </c:pt>
                <c:pt idx="13">
                  <c:v>18.5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Labour Participation Rate (%)</c:v>
                </c:pt>
              </c:strCache>
            </c:strRef>
          </c:tx>
          <c:spPr>
            <a:solidFill>
              <a:srgbClr val="1B2A41"/>
            </a:solidFill>
            <a:ln w="31750" cap="flat">
              <a:solidFill>
                <a:srgbClr val="1B2A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2A41"/>
              </a:solidFill>
              <a:ln w="9525" cap="flat">
                <a:solidFill>
                  <a:srgbClr val="1B2A4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May'19</c:v>
                </c:pt>
                <c:pt idx="1">
                  <c:v>Jun'19</c:v>
                </c:pt>
                <c:pt idx="2">
                  <c:v>Jul'19</c:v>
                </c:pt>
                <c:pt idx="3">
                  <c:v>Aug'19</c:v>
                </c:pt>
                <c:pt idx="4">
                  <c:v>Sep'19</c:v>
                </c:pt>
                <c:pt idx="5">
                  <c:v>Oct'19</c:v>
                </c:pt>
                <c:pt idx="6">
                  <c:v>Nov'19</c:v>
                </c:pt>
                <c:pt idx="7">
                  <c:v>Dec'19</c:v>
                </c:pt>
                <c:pt idx="8">
                  <c:v>Jan'20</c:v>
                </c:pt>
                <c:pt idx="9">
                  <c:v>Feb'20</c:v>
                </c:pt>
                <c:pt idx="10">
                  <c:v>Mar'20</c:v>
                </c:pt>
                <c:pt idx="11">
                  <c:v>Apr'20</c:v>
                </c:pt>
                <c:pt idx="12">
                  <c:v>May'20</c:v>
                </c:pt>
                <c:pt idx="13">
                  <c:v>Jun'20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44.1</c:v>
                </c:pt>
                <c:pt idx="1">
                  <c:v>43.9</c:v>
                </c:pt>
                <c:pt idx="2">
                  <c:v>44.0</c:v>
                </c:pt>
                <c:pt idx="3">
                  <c:v>43.8</c:v>
                </c:pt>
                <c:pt idx="4">
                  <c:v>43.9</c:v>
                </c:pt>
                <c:pt idx="5">
                  <c:v>43.7</c:v>
                </c:pt>
                <c:pt idx="6">
                  <c:v>43.8</c:v>
                </c:pt>
                <c:pt idx="7">
                  <c:v>43.9</c:v>
                </c:pt>
                <c:pt idx="8">
                  <c:v>43.85</c:v>
                </c:pt>
                <c:pt idx="9">
                  <c:v>43.8</c:v>
                </c:pt>
                <c:pt idx="10">
                  <c:v>42.0</c:v>
                </c:pt>
                <c:pt idx="11">
                  <c:v>40.0</c:v>
                </c:pt>
                <c:pt idx="12">
                  <c:v>39.5</c:v>
                </c:pt>
                <c:pt idx="13">
                  <c:v>39.33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.0"/>
          <c:min val="0.0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0392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0392B"/>
                    </a:solidFill>
                    <a:latin typeface="Arial"/>
                  </a:rPr>
                  <a:t>Unemployment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46.0"/>
          <c:min val="35.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B2A41"/>
                    </a:solidFill>
                    <a:latin typeface="Arial"/>
                  </a:rPr>
                  <a:t>Labour Participation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7F8F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4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4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-1463040" y="-1645920"/>
            <a:ext cx="4023360" cy="4023360"/>
          </a:xfrm>
          <a:prstGeom prst="ellipse"/>
          <a:solidFill>
            <a:srgbClr val="10192A"/>
          </a:solidFill>
        </p:spPr>
      </p:sp>
      <p:sp>
        <p:nvSpPr>
          <p:cNvPr id="1048577" name="Shape 1"/>
          <p:cNvSpPr/>
          <p:nvPr/>
        </p:nvSpPr>
        <p:spPr>
          <a:xfrm>
            <a:off x="-548640" y="-822960"/>
            <a:ext cx="2011680" cy="2011680"/>
          </a:xfrm>
          <a:prstGeom prst="ellipse"/>
          <a:solidFill>
            <a:srgbClr val="24344F"/>
          </a:solidFill>
        </p:spPr>
      </p:sp>
      <p:sp>
        <p:nvSpPr>
          <p:cNvPr id="1048578" name="Text 2"/>
          <p:cNvSpPr txBox="1"/>
          <p:nvPr/>
        </p:nvSpPr>
        <p:spPr>
          <a:xfrm>
            <a:off x="822960" y="502920"/>
            <a:ext cx="73152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200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Science Project  |  September 2026</a:t>
            </a:r>
            <a:endParaRPr dirty="0" sz="12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822960" y="1965960"/>
            <a:ext cx="10058400" cy="8229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 ANALYSIS</a:t>
            </a:r>
            <a:endParaRPr dirty="0" sz="38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822960" y="25146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PYTHON</a:t>
            </a:r>
            <a:endParaRPr dirty="0" sz="3800" lang="en-US"/>
          </a:p>
        </p:txBody>
      </p:sp>
      <p:sp>
        <p:nvSpPr>
          <p:cNvPr id="1048581" name="Text 5"/>
          <p:cNvSpPr txBox="1"/>
          <p:nvPr/>
        </p:nvSpPr>
        <p:spPr>
          <a:xfrm>
            <a:off x="822960" y="3246120"/>
            <a:ext cx="8686800" cy="45720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600" i="1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COVID-19 Impact Study — India, May 2019 to June 2020</a:t>
            </a:r>
            <a:endParaRPr dirty="0" sz="1600" lang="en-US"/>
          </a:p>
        </p:txBody>
      </p:sp>
      <p:sp>
        <p:nvSpPr>
          <p:cNvPr id="1048582" name="Shape 6"/>
          <p:cNvSpPr/>
          <p:nvPr/>
        </p:nvSpPr>
        <p:spPr>
          <a:xfrm>
            <a:off x="822960" y="397764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10192A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048583" name="Text 7"/>
          <p:cNvSpPr txBox="1"/>
          <p:nvPr/>
        </p:nvSpPr>
        <p:spPr>
          <a:xfrm>
            <a:off x="1005840" y="4114800"/>
            <a:ext cx="4206240" cy="5943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+86.8%</a:t>
            </a:r>
            <a:endParaRPr dirty="0" sz="2600" lang="en-US"/>
          </a:p>
        </p:txBody>
      </p:sp>
      <p:sp>
        <p:nvSpPr>
          <p:cNvPr id="1048584" name="Text 8"/>
          <p:cNvSpPr txBox="1"/>
          <p:nvPr/>
        </p:nvSpPr>
        <p:spPr>
          <a:xfrm>
            <a:off x="1005840" y="4709160"/>
            <a:ext cx="429768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surge post-lockdown  (9.51% → 17.77%)</a:t>
            </a:r>
            <a:endParaRPr dirty="0" sz="1150" lang="en-US"/>
          </a:p>
        </p:txBody>
      </p:sp>
      <p:sp>
        <p:nvSpPr>
          <p:cNvPr id="1048585" name="Text 9"/>
          <p:cNvSpPr txBox="1"/>
          <p:nvPr/>
        </p:nvSpPr>
        <p:spPr>
          <a:xfrm>
            <a:off x="822960" y="5989320"/>
            <a:ext cx="96012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200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  ·  Datetime  ·  Calendar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dirty="0" sz="3200" lang="en-US"/>
          </a:p>
        </p:txBody>
      </p:sp>
      <p:sp>
        <p:nvSpPr>
          <p:cNvPr id="1048590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sudden, policy-driven labor shock — not an ordinary downturn</a:t>
            </a:r>
            <a:endParaRPr dirty="0" sz="1400" lang="en-US"/>
          </a:p>
        </p:txBody>
      </p:sp>
      <p:sp>
        <p:nvSpPr>
          <p:cNvPr id="1048591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algn="bl" blurRad="76200" dir="5400000" dist="25400" kx="0" ky="0" rotWithShape="0" sx="100000" sy="100000">
              <a:srgbClr val="999999">
                <a:alpha val="25000"/>
              </a:srgbClr>
            </a:outerShdw>
          </a:effectLst>
        </p:spPr>
      </p:sp>
      <p:sp>
        <p:nvSpPr>
          <p:cNvPr id="1048592" name="Text 3"/>
          <p:cNvSpPr txBox="1"/>
          <p:nvPr/>
        </p:nvSpPr>
        <p:spPr>
          <a:xfrm>
            <a:off x="914400" y="1828800"/>
            <a:ext cx="4663440" cy="9601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2020 lockdown triggered an involuntary, near-instant stop across entire sectors of the economy — a shock unlike any typical business cycle.</a:t>
            </a:r>
            <a:endParaRPr dirty="0" sz="1400" lang="en-US"/>
          </a:p>
        </p:txBody>
      </p:sp>
      <p:sp>
        <p:nvSpPr>
          <p:cNvPr id="1048593" name="Text 4"/>
          <p:cNvSpPr txBox="1"/>
          <p:nvPr/>
        </p:nvSpPr>
        <p:spPr>
          <a:xfrm>
            <a:off x="914400" y="2880360"/>
            <a:ext cx="4663440" cy="3017520"/>
          </a:xfrm>
          <a:prstGeom prst="rect"/>
          <a:noFill/>
        </p:spPr>
        <p:txBody>
          <a:bodyPr anchor="t" bIns="0" lIns="0" rIns="0" rtlCol="0" tIns="0" wrap="square"/>
          <a:p>
            <a:pPr algn="l" indent="-228600" marL="2286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severity of the unemployment spike across India, month by month</a:t>
            </a:r>
            <a:endParaRPr dirty="0" sz="1350" lang="en-US"/>
          </a:p>
          <a:p>
            <a:pPr algn="l" indent="-228600" marL="2286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urban vs. rural economic resilience to identify structural differences</a:t>
            </a:r>
            <a:endParaRPr dirty="0" sz="1350" lang="en-US"/>
          </a:p>
          <a:p>
            <a:pPr algn="l" indent="-228600" marL="228600">
              <a:buSzPct val="100000"/>
              <a:buChar char="•"/>
            </a:pPr>
            <a:r>
              <a:rPr dirty="0" sz="13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data into concrete, targeted policy recommendations</a:t>
            </a:r>
            <a:endParaRPr dirty="0" sz="1350" lang="en-US"/>
          </a:p>
        </p:txBody>
      </p:sp>
      <p:sp>
        <p:nvSpPr>
          <p:cNvPr id="1048594" name="Shape 5"/>
          <p:cNvSpPr/>
          <p:nvPr/>
        </p:nvSpPr>
        <p:spPr>
          <a:xfrm>
            <a:off x="617220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B2A41"/>
          </a:solidFill>
        </p:spPr>
      </p:sp>
      <p:sp>
        <p:nvSpPr>
          <p:cNvPr id="1048595" name="Text 6"/>
          <p:cNvSpPr txBox="1"/>
          <p:nvPr/>
        </p:nvSpPr>
        <p:spPr>
          <a:xfrm>
            <a:off x="6492240" y="1828800"/>
            <a:ext cx="475488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200" kern="0" lang="en-US" spc="1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QUESTIONS</a:t>
            </a:r>
            <a:endParaRPr dirty="0" sz="1200" lang="en-US"/>
          </a:p>
        </p:txBody>
      </p:sp>
      <p:sp>
        <p:nvSpPr>
          <p:cNvPr id="1048596" name="Shape 7"/>
          <p:cNvSpPr/>
          <p:nvPr/>
        </p:nvSpPr>
        <p:spPr>
          <a:xfrm>
            <a:off x="6492240" y="2514600"/>
            <a:ext cx="566928" cy="566928"/>
          </a:xfrm>
          <a:prstGeom prst="ellipse"/>
          <a:solidFill>
            <a:srgbClr val="34456E"/>
          </a:solidFill>
        </p:spPr>
      </p:sp>
      <p:pic>
        <p:nvPicPr>
          <p:cNvPr id="2097152" name="Image 0" descr="/home/claude/icons2/chartlin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39641" y="2662001"/>
            <a:ext cx="272125" cy="272125"/>
          </a:xfrm>
          <a:prstGeom prst="rect"/>
        </p:spPr>
      </p:pic>
      <p:sp>
        <p:nvSpPr>
          <p:cNvPr id="1048597" name="Text 8"/>
          <p:cNvSpPr txBox="1"/>
          <p:nvPr/>
        </p:nvSpPr>
        <p:spPr>
          <a:xfrm>
            <a:off x="7223760" y="2496312"/>
            <a:ext cx="3931920" cy="3200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Magnitude</a:t>
            </a:r>
            <a:endParaRPr dirty="0" sz="1400" lang="en-US"/>
          </a:p>
        </p:txBody>
      </p:sp>
      <p:sp>
        <p:nvSpPr>
          <p:cNvPr id="1048598" name="Text 9"/>
          <p:cNvSpPr txBox="1"/>
          <p:nvPr/>
        </p:nvSpPr>
        <p:spPr>
          <a:xfrm>
            <a:off x="7223760" y="2825496"/>
            <a:ext cx="393192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11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was the spike, and exactly when did it hit?</a:t>
            </a:r>
            <a:endParaRPr dirty="0" sz="1100" lang="en-US"/>
          </a:p>
        </p:txBody>
      </p:sp>
      <p:sp>
        <p:nvSpPr>
          <p:cNvPr id="1048599" name="Shape 10"/>
          <p:cNvSpPr/>
          <p:nvPr/>
        </p:nvSpPr>
        <p:spPr>
          <a:xfrm>
            <a:off x="6492240" y="3474720"/>
            <a:ext cx="566928" cy="566928"/>
          </a:xfrm>
          <a:prstGeom prst="ellipse"/>
          <a:solidFill>
            <a:srgbClr val="34456E"/>
          </a:solidFill>
        </p:spPr>
      </p:sp>
      <p:pic>
        <p:nvPicPr>
          <p:cNvPr id="2097153" name="Image 1" descr="/home/claude/icons2/balanc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39641" y="3622121"/>
            <a:ext cx="272125" cy="272125"/>
          </a:xfrm>
          <a:prstGeom prst="rect"/>
        </p:spPr>
      </p:pic>
      <p:sp>
        <p:nvSpPr>
          <p:cNvPr id="1048600" name="Text 11"/>
          <p:cNvSpPr txBox="1"/>
          <p:nvPr/>
        </p:nvSpPr>
        <p:spPr>
          <a:xfrm>
            <a:off x="7223760" y="3456432"/>
            <a:ext cx="3931920" cy="3200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Disparity</a:t>
            </a:r>
            <a:endParaRPr dirty="0" sz="1400" lang="en-US"/>
          </a:p>
        </p:txBody>
      </p:sp>
      <p:sp>
        <p:nvSpPr>
          <p:cNvPr id="1048601" name="Text 12"/>
          <p:cNvSpPr txBox="1"/>
          <p:nvPr/>
        </p:nvSpPr>
        <p:spPr>
          <a:xfrm>
            <a:off x="7223760" y="3785616"/>
            <a:ext cx="393192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11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absorbed the damage — urban or rural workers?</a:t>
            </a:r>
            <a:endParaRPr dirty="0" sz="1100" lang="en-US"/>
          </a:p>
        </p:txBody>
      </p:sp>
      <p:sp>
        <p:nvSpPr>
          <p:cNvPr id="1048602" name="Shape 13"/>
          <p:cNvSpPr/>
          <p:nvPr/>
        </p:nvSpPr>
        <p:spPr>
          <a:xfrm>
            <a:off x="6492240" y="4434840"/>
            <a:ext cx="566928" cy="566928"/>
          </a:xfrm>
          <a:prstGeom prst="ellipse"/>
          <a:solidFill>
            <a:srgbClr val="34456E"/>
          </a:solidFill>
        </p:spPr>
      </p:sp>
      <p:pic>
        <p:nvPicPr>
          <p:cNvPr id="2097154" name="Image 2" descr="/home/claude/icons2/relief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639641" y="4582241"/>
            <a:ext cx="272125" cy="272125"/>
          </a:xfrm>
          <a:prstGeom prst="rect"/>
        </p:spPr>
      </p:pic>
      <p:sp>
        <p:nvSpPr>
          <p:cNvPr id="1048603" name="Text 14"/>
          <p:cNvSpPr txBox="1"/>
          <p:nvPr/>
        </p:nvSpPr>
        <p:spPr>
          <a:xfrm>
            <a:off x="7223760" y="4416552"/>
            <a:ext cx="3931920" cy="3200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Response</a:t>
            </a:r>
            <a:endParaRPr dirty="0" sz="1400" lang="en-US"/>
          </a:p>
        </p:txBody>
      </p:sp>
      <p:sp>
        <p:nvSpPr>
          <p:cNvPr id="1048604" name="Text 15"/>
          <p:cNvSpPr txBox="1"/>
          <p:nvPr/>
        </p:nvSpPr>
        <p:spPr>
          <a:xfrm>
            <a:off x="7223760" y="4745736"/>
            <a:ext cx="393192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11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pattern imply for targeted government action?</a:t>
            </a:r>
            <a:endParaRPr dirty="0" sz="1100" lang="en-US"/>
          </a:p>
        </p:txBody>
      </p:sp>
      <p:sp>
        <p:nvSpPr>
          <p:cNvPr id="1048605" name="Text 16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Analysis with Python — COVID-19 Impact Study</a:t>
            </a:r>
            <a:endParaRPr dirty="0" sz="900" lang="en-US"/>
          </a:p>
        </p:txBody>
      </p:sp>
      <p:sp>
        <p:nvSpPr>
          <p:cNvPr id="1048606" name="Text 17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Temporal Engineering</a:t>
            </a:r>
            <a:endParaRPr dirty="0" sz="3200" lang="en-US"/>
          </a:p>
        </p:txBody>
      </p:sp>
      <p:sp>
        <p:nvSpPr>
          <p:cNvPr id="1048611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every comparison to the March 24, 2020 lockdown threshold</a:t>
            </a:r>
            <a:endParaRPr dirty="0" sz="1400" lang="en-US"/>
          </a:p>
        </p:txBody>
      </p:sp>
      <p:sp>
        <p:nvSpPr>
          <p:cNvPr id="1048612" name="Shape 2"/>
          <p:cNvSpPr/>
          <p:nvPr/>
        </p:nvSpPr>
        <p:spPr>
          <a:xfrm>
            <a:off x="64008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13" name="Text 3"/>
          <p:cNvSpPr txBox="1"/>
          <p:nvPr/>
        </p:nvSpPr>
        <p:spPr>
          <a:xfrm>
            <a:off x="86868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dirty="0" sz="2600" lang="en-US"/>
          </a:p>
        </p:txBody>
      </p:sp>
      <p:sp>
        <p:nvSpPr>
          <p:cNvPr id="1048614" name="Text 4"/>
          <p:cNvSpPr txBox="1"/>
          <p:nvPr/>
        </p:nvSpPr>
        <p:spPr>
          <a:xfrm>
            <a:off x="86868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</a:t>
            </a:r>
            <a:endParaRPr dirty="0" sz="1150" lang="en-US"/>
          </a:p>
        </p:txBody>
      </p:sp>
      <p:sp>
        <p:nvSpPr>
          <p:cNvPr id="1048615" name="Shape 5"/>
          <p:cNvSpPr/>
          <p:nvPr/>
        </p:nvSpPr>
        <p:spPr>
          <a:xfrm>
            <a:off x="411480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16" name="Text 6"/>
          <p:cNvSpPr txBox="1"/>
          <p:nvPr/>
        </p:nvSpPr>
        <p:spPr>
          <a:xfrm>
            <a:off x="434340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dirty="0" sz="2600" lang="en-US"/>
          </a:p>
        </p:txBody>
      </p:sp>
      <p:sp>
        <p:nvSpPr>
          <p:cNvPr id="1048617" name="Text 7"/>
          <p:cNvSpPr txBox="1"/>
          <p:nvPr/>
        </p:nvSpPr>
        <p:spPr>
          <a:xfrm>
            <a:off x="434340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UTs</a:t>
            </a:r>
            <a:endParaRPr dirty="0" sz="1150" lang="en-US"/>
          </a:p>
        </p:txBody>
      </p:sp>
      <p:sp>
        <p:nvSpPr>
          <p:cNvPr id="1048618" name="Shape 8"/>
          <p:cNvSpPr/>
          <p:nvPr/>
        </p:nvSpPr>
        <p:spPr>
          <a:xfrm>
            <a:off x="758952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19" name="Text 9"/>
          <p:cNvSpPr txBox="1"/>
          <p:nvPr/>
        </p:nvSpPr>
        <p:spPr>
          <a:xfrm>
            <a:off x="781812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dirty="0" sz="2600" lang="en-US"/>
          </a:p>
        </p:txBody>
      </p:sp>
      <p:sp>
        <p:nvSpPr>
          <p:cNvPr id="1048620" name="Text 10"/>
          <p:cNvSpPr txBox="1"/>
          <p:nvPr/>
        </p:nvSpPr>
        <p:spPr>
          <a:xfrm>
            <a:off x="781812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lockdown threshold</a:t>
            </a:r>
            <a:endParaRPr dirty="0" sz="1150" lang="en-US"/>
          </a:p>
        </p:txBody>
      </p:sp>
      <p:sp>
        <p:nvSpPr>
          <p:cNvPr id="1048621" name="Text 11"/>
          <p:cNvSpPr txBox="1"/>
          <p:nvPr/>
        </p:nvSpPr>
        <p:spPr>
          <a:xfrm>
            <a:off x="640080" y="3063240"/>
            <a:ext cx="10881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2019 → JUNE 2020</a:t>
            </a:r>
            <a:endParaRPr dirty="0" sz="1100" lang="en-US"/>
          </a:p>
        </p:txBody>
      </p:sp>
      <p:sp>
        <p:nvSpPr>
          <p:cNvPr id="1048622" name="Shape 12"/>
          <p:cNvSpPr/>
          <p:nvPr/>
        </p:nvSpPr>
        <p:spPr>
          <a:xfrm>
            <a:off x="640080" y="3447288"/>
            <a:ext cx="7772400" cy="502920"/>
          </a:xfrm>
          <a:prstGeom prst="rect"/>
          <a:solidFill>
            <a:srgbClr val="2E9E6B"/>
          </a:solidFill>
        </p:spPr>
      </p:sp>
      <p:sp>
        <p:nvSpPr>
          <p:cNvPr id="1048623" name="Shape 13"/>
          <p:cNvSpPr/>
          <p:nvPr/>
        </p:nvSpPr>
        <p:spPr>
          <a:xfrm>
            <a:off x="8412480" y="3447288"/>
            <a:ext cx="3108960" cy="502920"/>
          </a:xfrm>
          <a:prstGeom prst="rect"/>
          <a:solidFill>
            <a:srgbClr val="C0392B"/>
          </a:solidFill>
        </p:spPr>
      </p:sp>
      <p:sp>
        <p:nvSpPr>
          <p:cNvPr id="1048624" name="Text 14"/>
          <p:cNvSpPr txBox="1"/>
          <p:nvPr/>
        </p:nvSpPr>
        <p:spPr>
          <a:xfrm>
            <a:off x="777240" y="3447288"/>
            <a:ext cx="74980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PRE-LOCKDOWN</a:t>
            </a:r>
            <a:endParaRPr dirty="0" sz="1200" lang="en-US"/>
          </a:p>
        </p:txBody>
      </p:sp>
      <p:sp>
        <p:nvSpPr>
          <p:cNvPr id="1048625" name="Text 15"/>
          <p:cNvSpPr txBox="1"/>
          <p:nvPr/>
        </p:nvSpPr>
        <p:spPr>
          <a:xfrm>
            <a:off x="8549640" y="3447288"/>
            <a:ext cx="283464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POST-LOCKDOWN</a:t>
            </a:r>
            <a:endParaRPr dirty="0" sz="1200" lang="en-US"/>
          </a:p>
        </p:txBody>
      </p:sp>
      <p:sp>
        <p:nvSpPr>
          <p:cNvPr id="1048626" name="Shape 16"/>
          <p:cNvSpPr/>
          <p:nvPr/>
        </p:nvSpPr>
        <p:spPr>
          <a:xfrm>
            <a:off x="8129016" y="3163824"/>
            <a:ext cx="566928" cy="566928"/>
          </a:xfrm>
          <a:prstGeom prst="ellipse"/>
          <a:solidFill>
            <a:srgbClr val="10192A"/>
          </a:solidFill>
        </p:spPr>
      </p:sp>
      <p:pic>
        <p:nvPicPr>
          <p:cNvPr id="2097155" name="Image 0" descr="/home/claude/icons2/viru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276417" y="3311225"/>
            <a:ext cx="272125" cy="272125"/>
          </a:xfrm>
          <a:prstGeom prst="rect"/>
        </p:spPr>
      </p:pic>
      <p:sp>
        <p:nvSpPr>
          <p:cNvPr id="1048627" name="Text 17"/>
          <p:cNvSpPr txBox="1"/>
          <p:nvPr/>
        </p:nvSpPr>
        <p:spPr>
          <a:xfrm>
            <a:off x="7635240" y="4023360"/>
            <a:ext cx="15544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</a:t>
            </a:r>
            <a:endParaRPr dirty="0" sz="1000" lang="en-US"/>
          </a:p>
          <a:p>
            <a:pPr algn="ctr" indent="0" marL="0">
              <a:buNone/>
            </a:pPr>
            <a:r>
              <a:rPr b="1"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24, 2020</a:t>
            </a:r>
            <a:endParaRPr dirty="0" sz="1000" lang="en-US"/>
          </a:p>
        </p:txBody>
      </p:sp>
      <p:sp>
        <p:nvSpPr>
          <p:cNvPr id="1048628" name="Shape 18"/>
          <p:cNvSpPr/>
          <p:nvPr/>
        </p:nvSpPr>
        <p:spPr>
          <a:xfrm>
            <a:off x="64008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29" name="Text 19"/>
          <p:cNvSpPr txBox="1"/>
          <p:nvPr/>
        </p:nvSpPr>
        <p:spPr>
          <a:xfrm>
            <a:off x="914400" y="486460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dirty="0" sz="1400" lang="en-US"/>
          </a:p>
        </p:txBody>
      </p:sp>
      <p:sp>
        <p:nvSpPr>
          <p:cNvPr id="1048630" name="Text 20"/>
          <p:cNvSpPr txBox="1"/>
          <p:nvPr/>
        </p:nvSpPr>
        <p:spPr>
          <a:xfrm>
            <a:off x="914400" y="5230368"/>
            <a:ext cx="4754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in headers, removed 28 trailing unpopulated rows, and normalized schema across all 28 states/UTs.</a:t>
            </a:r>
            <a:endParaRPr dirty="0" sz="1200" lang="en-US"/>
          </a:p>
        </p:txBody>
      </p:sp>
      <p:sp>
        <p:nvSpPr>
          <p:cNvPr id="1048631" name="Shape 21"/>
          <p:cNvSpPr/>
          <p:nvPr/>
        </p:nvSpPr>
        <p:spPr>
          <a:xfrm>
            <a:off x="621792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32" name="Text 22"/>
          <p:cNvSpPr txBox="1"/>
          <p:nvPr/>
        </p:nvSpPr>
        <p:spPr>
          <a:xfrm>
            <a:off x="6492240" y="486460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</a:t>
            </a:r>
            <a:endParaRPr dirty="0" sz="1400" lang="en-US"/>
          </a:p>
        </p:txBody>
      </p:sp>
      <p:sp>
        <p:nvSpPr>
          <p:cNvPr id="1048633" name="Text 23"/>
          <p:cNvSpPr txBox="1"/>
          <p:nvPr/>
        </p:nvSpPr>
        <p:spPr>
          <a:xfrm>
            <a:off x="6492240" y="5230368"/>
            <a:ext cx="4754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 &amp; Month via datetime/calendar, and created a Lockdown_Phase flag for clean before/after comparisons.</a:t>
            </a:r>
            <a:endParaRPr dirty="0" sz="1200" lang="en-US"/>
          </a:p>
        </p:txBody>
      </p:sp>
      <p:sp>
        <p:nvSpPr>
          <p:cNvPr id="1048634" name="Text 24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Analysis with Python — COVID-19 Impact Study</a:t>
            </a:r>
            <a:endParaRPr dirty="0" sz="900" lang="en-US"/>
          </a:p>
        </p:txBody>
      </p:sp>
      <p:sp>
        <p:nvSpPr>
          <p:cNvPr id="1048635" name="Text 25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Shock</a:t>
            </a:r>
            <a:endParaRPr dirty="0" sz="3200" lang="en-US"/>
          </a:p>
        </p:txBody>
      </p:sp>
      <p:sp>
        <p:nvSpPr>
          <p:cNvPr id="1048640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vs. Urban unemployment, before and after the lockdown</a:t>
            </a:r>
            <a:endParaRPr dirty="0" sz="1400" lang="en-US"/>
          </a:p>
        </p:txBody>
      </p:sp>
      <p:graphicFrame>
        <p:nvGraphicFramePr>
          <p:cNvPr id="4194304" name="Chart 0" descr=""/>
          <p:cNvGraphicFramePr>
            <a:graphicFrameLocks/>
          </p:cNvGraphicFramePr>
          <p:nvPr/>
        </p:nvGraphicFramePr>
        <p:xfrm>
          <a:off x="548640" y="1554480"/>
          <a:ext cx="11064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41" name="Shape 2"/>
          <p:cNvSpPr/>
          <p:nvPr/>
        </p:nvSpPr>
        <p:spPr>
          <a:xfrm>
            <a:off x="9390888" y="1783080"/>
            <a:ext cx="0" cy="2880360"/>
          </a:xfrm>
          <a:prstGeom prst="line"/>
          <a:noFill/>
          <a:ln w="19050">
            <a:solidFill>
              <a:srgbClr val="1B2A41"/>
            </a:solidFill>
            <a:prstDash val="dash"/>
          </a:ln>
        </p:spPr>
      </p:sp>
      <p:sp>
        <p:nvSpPr>
          <p:cNvPr id="1048642" name="Text 3"/>
          <p:cNvSpPr txBox="1"/>
          <p:nvPr/>
        </p:nvSpPr>
        <p:spPr>
          <a:xfrm>
            <a:off x="8887968" y="1572768"/>
            <a:ext cx="10058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</a:t>
            </a:r>
            <a:endParaRPr dirty="0" sz="900" lang="en-US"/>
          </a:p>
          <a:p>
            <a:pPr algn="ctr" indent="0" marL="0">
              <a:buNone/>
            </a:pPr>
            <a:r>
              <a:rPr b="1" dirty="0" sz="9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dirty="0" sz="900" lang="en-US"/>
          </a:p>
        </p:txBody>
      </p:sp>
      <p:sp>
        <p:nvSpPr>
          <p:cNvPr id="1048643" name="Shape 4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</p:spPr>
      </p:sp>
      <p:sp>
        <p:nvSpPr>
          <p:cNvPr id="1048644" name="Text 5"/>
          <p:cNvSpPr txBox="1"/>
          <p:nvPr/>
        </p:nvSpPr>
        <p:spPr>
          <a:xfrm>
            <a:off x="914400" y="5257800"/>
            <a:ext cx="103327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b="1" dirty="0" sz="140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9.51% → 17.77% </a:t>
            </a: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unemployment (+86.8%).  </a:t>
            </a:r>
            <a:r>
              <a:rPr b="1" dirty="0" sz="140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peaks reached 28%–76%</a:t>
            </a: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hardest-hit states — and the break in trend lands exactly on the lockdown date.</a:t>
            </a:r>
            <a:endParaRPr dirty="0" sz="1400" lang="en-US"/>
          </a:p>
        </p:txBody>
      </p:sp>
      <p:sp>
        <p:nvSpPr>
          <p:cNvPr id="1048645" name="Text 6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Analysis with Python — COVID-19 Impact Study</a:t>
            </a:r>
            <a:endParaRPr dirty="0" sz="900" lang="en-US"/>
          </a:p>
        </p:txBody>
      </p:sp>
      <p:sp>
        <p:nvSpPr>
          <p:cNvPr id="1048646" name="Text 7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ext 0"/>
          <p:cNvSpPr txBox="1"/>
          <p:nvPr/>
        </p:nvSpPr>
        <p:spPr>
          <a:xfrm>
            <a:off x="640080" y="457200"/>
            <a:ext cx="105156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0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Fragility vs. Rural Resilience</a:t>
            </a:r>
            <a:endParaRPr dirty="0" sz="3000" lang="en-US"/>
          </a:p>
        </p:txBody>
      </p:sp>
      <p:sp>
        <p:nvSpPr>
          <p:cNvPr id="1048651" name="Text 1"/>
          <p:cNvSpPr txBox="1"/>
          <p:nvPr/>
        </p:nvSpPr>
        <p:spPr>
          <a:xfrm>
            <a:off x="640080" y="1005840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shift, pre- vs. post-lockdown</a:t>
            </a:r>
            <a:endParaRPr dirty="0" sz="1400" lang="en-US"/>
          </a:p>
        </p:txBody>
      </p:sp>
      <p:sp>
        <p:nvSpPr>
          <p:cNvPr id="1048652" name="Shape 2"/>
          <p:cNvSpPr/>
          <p:nvPr/>
        </p:nvSpPr>
        <p:spPr>
          <a:xfrm>
            <a:off x="1188720" y="1691640"/>
            <a:ext cx="0" cy="3383280"/>
          </a:xfrm>
          <a:prstGeom prst="line"/>
          <a:noFill/>
          <a:ln w="12700">
            <a:solidFill>
              <a:srgbClr val="C7CCD6"/>
            </a:solidFill>
            <a:prstDash val="solid"/>
          </a:ln>
        </p:spPr>
      </p:sp>
      <p:sp>
        <p:nvSpPr>
          <p:cNvPr id="1048653" name="Shape 3"/>
          <p:cNvSpPr/>
          <p:nvPr/>
        </p:nvSpPr>
        <p:spPr>
          <a:xfrm>
            <a:off x="1188720" y="507492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54" name="Text 4"/>
          <p:cNvSpPr txBox="1"/>
          <p:nvPr/>
        </p:nvSpPr>
        <p:spPr>
          <a:xfrm>
            <a:off x="685800" y="496519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dirty="0" sz="900" lang="en-US"/>
          </a:p>
        </p:txBody>
      </p:sp>
      <p:sp>
        <p:nvSpPr>
          <p:cNvPr id="1048655" name="Shape 5"/>
          <p:cNvSpPr/>
          <p:nvPr/>
        </p:nvSpPr>
        <p:spPr>
          <a:xfrm>
            <a:off x="1188720" y="451104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56" name="Text 6"/>
          <p:cNvSpPr txBox="1"/>
          <p:nvPr/>
        </p:nvSpPr>
        <p:spPr>
          <a:xfrm>
            <a:off x="685800" y="440131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900" lang="en-US"/>
          </a:p>
        </p:txBody>
      </p:sp>
      <p:sp>
        <p:nvSpPr>
          <p:cNvPr id="1048657" name="Shape 7"/>
          <p:cNvSpPr/>
          <p:nvPr/>
        </p:nvSpPr>
        <p:spPr>
          <a:xfrm>
            <a:off x="1188720" y="394716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58" name="Text 8"/>
          <p:cNvSpPr txBox="1"/>
          <p:nvPr/>
        </p:nvSpPr>
        <p:spPr>
          <a:xfrm>
            <a:off x="685800" y="383743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900" lang="en-US"/>
          </a:p>
        </p:txBody>
      </p:sp>
      <p:sp>
        <p:nvSpPr>
          <p:cNvPr id="1048659" name="Shape 9"/>
          <p:cNvSpPr/>
          <p:nvPr/>
        </p:nvSpPr>
        <p:spPr>
          <a:xfrm>
            <a:off x="1188720" y="338328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60" name="Text 10"/>
          <p:cNvSpPr txBox="1"/>
          <p:nvPr/>
        </p:nvSpPr>
        <p:spPr>
          <a:xfrm>
            <a:off x="685800" y="327355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dirty="0" sz="900" lang="en-US"/>
          </a:p>
        </p:txBody>
      </p:sp>
      <p:sp>
        <p:nvSpPr>
          <p:cNvPr id="1048661" name="Shape 11"/>
          <p:cNvSpPr/>
          <p:nvPr/>
        </p:nvSpPr>
        <p:spPr>
          <a:xfrm>
            <a:off x="1188720" y="281940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62" name="Text 12"/>
          <p:cNvSpPr txBox="1"/>
          <p:nvPr/>
        </p:nvSpPr>
        <p:spPr>
          <a:xfrm>
            <a:off x="685800" y="270967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dirty="0" sz="900" lang="en-US"/>
          </a:p>
        </p:txBody>
      </p:sp>
      <p:sp>
        <p:nvSpPr>
          <p:cNvPr id="1048663" name="Shape 13"/>
          <p:cNvSpPr/>
          <p:nvPr/>
        </p:nvSpPr>
        <p:spPr>
          <a:xfrm>
            <a:off x="1188720" y="225552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64" name="Text 14"/>
          <p:cNvSpPr txBox="1"/>
          <p:nvPr/>
        </p:nvSpPr>
        <p:spPr>
          <a:xfrm>
            <a:off x="685800" y="214579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dirty="0" sz="900" lang="en-US"/>
          </a:p>
        </p:txBody>
      </p:sp>
      <p:sp>
        <p:nvSpPr>
          <p:cNvPr id="1048665" name="Shape 15"/>
          <p:cNvSpPr/>
          <p:nvPr/>
        </p:nvSpPr>
        <p:spPr>
          <a:xfrm>
            <a:off x="1188720" y="1691640"/>
            <a:ext cx="9875520" cy="0"/>
          </a:xfrm>
          <a:prstGeom prst="line"/>
          <a:noFill/>
          <a:ln w="12700">
            <a:solidFill>
              <a:srgbClr val="EDEFF4"/>
            </a:solidFill>
            <a:prstDash val="solid"/>
          </a:ln>
        </p:spPr>
      </p:sp>
      <p:sp>
        <p:nvSpPr>
          <p:cNvPr id="1048666" name="Text 16"/>
          <p:cNvSpPr txBox="1"/>
          <p:nvPr/>
        </p:nvSpPr>
        <p:spPr>
          <a:xfrm>
            <a:off x="685800" y="1581912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dirty="0" sz="900" lang="en-US"/>
          </a:p>
        </p:txBody>
      </p:sp>
      <p:sp>
        <p:nvSpPr>
          <p:cNvPr id="1048667" name="Text 17"/>
          <p:cNvSpPr txBox="1"/>
          <p:nvPr/>
        </p:nvSpPr>
        <p:spPr>
          <a:xfrm>
            <a:off x="685800" y="1325880"/>
            <a:ext cx="2743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(%)</a:t>
            </a:r>
            <a:endParaRPr dirty="0" sz="1000" lang="en-US"/>
          </a:p>
        </p:txBody>
      </p:sp>
      <p:sp>
        <p:nvSpPr>
          <p:cNvPr id="1048668" name="Shape 18"/>
          <p:cNvSpPr/>
          <p:nvPr/>
        </p:nvSpPr>
        <p:spPr>
          <a:xfrm>
            <a:off x="2423160" y="4161434"/>
            <a:ext cx="0" cy="67666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69" name="Shape 19"/>
          <p:cNvSpPr/>
          <p:nvPr/>
        </p:nvSpPr>
        <p:spPr>
          <a:xfrm>
            <a:off x="2258568" y="4161434"/>
            <a:ext cx="329184" cy="0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70" name="Shape 20"/>
          <p:cNvSpPr/>
          <p:nvPr/>
        </p:nvSpPr>
        <p:spPr>
          <a:xfrm>
            <a:off x="2258568" y="4229100"/>
            <a:ext cx="329184" cy="0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71" name="Shape 21"/>
          <p:cNvSpPr/>
          <p:nvPr/>
        </p:nvSpPr>
        <p:spPr>
          <a:xfrm>
            <a:off x="1920240" y="4172712"/>
            <a:ext cx="1005840" cy="33833"/>
          </a:xfrm>
          <a:prstGeom prst="rect"/>
          <a:solidFill>
            <a:srgbClr val="2E9E6B">
              <a:alpha val="22000"/>
            </a:srgbClr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1048672" name="Shape 22"/>
          <p:cNvSpPr/>
          <p:nvPr/>
        </p:nvSpPr>
        <p:spPr>
          <a:xfrm>
            <a:off x="1920240" y="4189628"/>
            <a:ext cx="1005840" cy="0"/>
          </a:xfrm>
          <a:prstGeom prst="line"/>
          <a:noFill/>
          <a:ln w="31750">
            <a:solidFill>
              <a:srgbClr val="2E9E6B"/>
            </a:solidFill>
            <a:prstDash val="solid"/>
          </a:ln>
        </p:spPr>
      </p:sp>
      <p:sp>
        <p:nvSpPr>
          <p:cNvPr id="1048673" name="Text 23"/>
          <p:cNvSpPr txBox="1"/>
          <p:nvPr/>
        </p:nvSpPr>
        <p:spPr>
          <a:xfrm>
            <a:off x="1965960" y="3850538"/>
            <a:ext cx="914400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dirty="0" sz="1050" lang="en-US"/>
          </a:p>
        </p:txBody>
      </p:sp>
      <p:sp>
        <p:nvSpPr>
          <p:cNvPr id="1048674" name="Text 24"/>
          <p:cNvSpPr txBox="1"/>
          <p:nvPr/>
        </p:nvSpPr>
        <p:spPr>
          <a:xfrm>
            <a:off x="1691640" y="5184648"/>
            <a:ext cx="1463040" cy="4572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Pre-Lockdown</a:t>
            </a:r>
            <a:endParaRPr dirty="0" sz="1100" lang="en-US"/>
          </a:p>
        </p:txBody>
      </p:sp>
      <p:sp>
        <p:nvSpPr>
          <p:cNvPr id="1048675" name="Shape 25"/>
          <p:cNvSpPr/>
          <p:nvPr/>
        </p:nvSpPr>
        <p:spPr>
          <a:xfrm>
            <a:off x="4892040" y="3608832"/>
            <a:ext cx="0" cy="394716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76" name="Shape 26"/>
          <p:cNvSpPr/>
          <p:nvPr/>
        </p:nvSpPr>
        <p:spPr>
          <a:xfrm>
            <a:off x="4727448" y="3608832"/>
            <a:ext cx="329184" cy="0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77" name="Shape 27"/>
          <p:cNvSpPr/>
          <p:nvPr/>
        </p:nvSpPr>
        <p:spPr>
          <a:xfrm>
            <a:off x="4727448" y="4003548"/>
            <a:ext cx="329184" cy="0"/>
          </a:xfrm>
          <a:prstGeom prst="line"/>
          <a:noFill/>
          <a:ln w="19050">
            <a:solidFill>
              <a:srgbClr val="2E9E6B"/>
            </a:solidFill>
            <a:prstDash val="solid"/>
          </a:ln>
        </p:spPr>
      </p:sp>
      <p:sp>
        <p:nvSpPr>
          <p:cNvPr id="1048678" name="Shape 28"/>
          <p:cNvSpPr/>
          <p:nvPr/>
        </p:nvSpPr>
        <p:spPr>
          <a:xfrm>
            <a:off x="4389120" y="3637026"/>
            <a:ext cx="1005840" cy="253746"/>
          </a:xfrm>
          <a:prstGeom prst="rect"/>
          <a:solidFill>
            <a:srgbClr val="2E9E6B">
              <a:alpha val="22000"/>
            </a:srgbClr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1048679" name="Shape 29"/>
          <p:cNvSpPr/>
          <p:nvPr/>
        </p:nvSpPr>
        <p:spPr>
          <a:xfrm>
            <a:off x="4389120" y="3721608"/>
            <a:ext cx="1005840" cy="0"/>
          </a:xfrm>
          <a:prstGeom prst="line"/>
          <a:noFill/>
          <a:ln w="31750">
            <a:solidFill>
              <a:srgbClr val="2E9E6B"/>
            </a:solidFill>
            <a:prstDash val="solid"/>
          </a:ln>
        </p:spPr>
      </p:sp>
      <p:sp>
        <p:nvSpPr>
          <p:cNvPr id="1048680" name="Text 30"/>
          <p:cNvSpPr txBox="1"/>
          <p:nvPr/>
        </p:nvSpPr>
        <p:spPr>
          <a:xfrm>
            <a:off x="4434840" y="3297936"/>
            <a:ext cx="914400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dirty="0" sz="1050" lang="en-US"/>
          </a:p>
        </p:txBody>
      </p:sp>
      <p:sp>
        <p:nvSpPr>
          <p:cNvPr id="1048681" name="Text 31"/>
          <p:cNvSpPr txBox="1"/>
          <p:nvPr/>
        </p:nvSpPr>
        <p:spPr>
          <a:xfrm>
            <a:off x="4160520" y="5184648"/>
            <a:ext cx="1463040" cy="4572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Post-Lockdown</a:t>
            </a:r>
            <a:endParaRPr dirty="0" sz="1100" lang="en-US"/>
          </a:p>
        </p:txBody>
      </p:sp>
      <p:sp>
        <p:nvSpPr>
          <p:cNvPr id="1048682" name="Shape 32"/>
          <p:cNvSpPr/>
          <p:nvPr/>
        </p:nvSpPr>
        <p:spPr>
          <a:xfrm>
            <a:off x="7360920" y="3777996"/>
            <a:ext cx="0" cy="78943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83" name="Shape 33"/>
          <p:cNvSpPr/>
          <p:nvPr/>
        </p:nvSpPr>
        <p:spPr>
          <a:xfrm>
            <a:off x="7196328" y="3777996"/>
            <a:ext cx="329184" cy="0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84" name="Shape 34"/>
          <p:cNvSpPr/>
          <p:nvPr/>
        </p:nvSpPr>
        <p:spPr>
          <a:xfrm>
            <a:off x="7196328" y="3856939"/>
            <a:ext cx="329184" cy="0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85" name="Shape 35"/>
          <p:cNvSpPr/>
          <p:nvPr/>
        </p:nvSpPr>
        <p:spPr>
          <a:xfrm>
            <a:off x="6858000" y="3800551"/>
            <a:ext cx="1005840" cy="33833"/>
          </a:xfrm>
          <a:prstGeom prst="rect"/>
          <a:solidFill>
            <a:srgbClr val="C0392B">
              <a:alpha val="22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48686" name="Shape 36"/>
          <p:cNvSpPr/>
          <p:nvPr/>
        </p:nvSpPr>
        <p:spPr>
          <a:xfrm>
            <a:off x="6858000" y="3817468"/>
            <a:ext cx="1005840" cy="0"/>
          </a:xfrm>
          <a:prstGeom prst="line"/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048687" name="Text 37"/>
          <p:cNvSpPr txBox="1"/>
          <p:nvPr/>
        </p:nvSpPr>
        <p:spPr>
          <a:xfrm>
            <a:off x="6903720" y="3467100"/>
            <a:ext cx="914400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dirty="0" sz="1050" lang="en-US"/>
          </a:p>
        </p:txBody>
      </p:sp>
      <p:sp>
        <p:nvSpPr>
          <p:cNvPr id="1048688" name="Text 38"/>
          <p:cNvSpPr txBox="1"/>
          <p:nvPr/>
        </p:nvSpPr>
        <p:spPr>
          <a:xfrm>
            <a:off x="6629400" y="5184648"/>
            <a:ext cx="1463040" cy="4572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Pre-Lockdown</a:t>
            </a:r>
            <a:endParaRPr dirty="0" sz="1100" lang="en-US"/>
          </a:p>
        </p:txBody>
      </p:sp>
      <p:sp>
        <p:nvSpPr>
          <p:cNvPr id="1048689" name="Shape 39"/>
          <p:cNvSpPr/>
          <p:nvPr/>
        </p:nvSpPr>
        <p:spPr>
          <a:xfrm>
            <a:off x="9829800" y="1973580"/>
            <a:ext cx="0" cy="1240536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90" name="Shape 40"/>
          <p:cNvSpPr/>
          <p:nvPr/>
        </p:nvSpPr>
        <p:spPr>
          <a:xfrm>
            <a:off x="9665208" y="1973580"/>
            <a:ext cx="329184" cy="0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91" name="Shape 41"/>
          <p:cNvSpPr/>
          <p:nvPr/>
        </p:nvSpPr>
        <p:spPr>
          <a:xfrm>
            <a:off x="9665208" y="3214116"/>
            <a:ext cx="329184" cy="0"/>
          </a:xfrm>
          <a:prstGeom prst="line"/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48692" name="Shape 42"/>
          <p:cNvSpPr/>
          <p:nvPr/>
        </p:nvSpPr>
        <p:spPr>
          <a:xfrm>
            <a:off x="9326880" y="2058162"/>
            <a:ext cx="1005840" cy="648462"/>
          </a:xfrm>
          <a:prstGeom prst="rect"/>
          <a:solidFill>
            <a:srgbClr val="C0392B">
              <a:alpha val="22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48693" name="Shape 43"/>
          <p:cNvSpPr/>
          <p:nvPr/>
        </p:nvSpPr>
        <p:spPr>
          <a:xfrm>
            <a:off x="9326880" y="2170938"/>
            <a:ext cx="1005840" cy="0"/>
          </a:xfrm>
          <a:prstGeom prst="line"/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048694" name="Text 44"/>
          <p:cNvSpPr txBox="1"/>
          <p:nvPr/>
        </p:nvSpPr>
        <p:spPr>
          <a:xfrm>
            <a:off x="9372600" y="1662684"/>
            <a:ext cx="914400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dirty="0" sz="1050" lang="en-US"/>
          </a:p>
        </p:txBody>
      </p:sp>
      <p:sp>
        <p:nvSpPr>
          <p:cNvPr id="1048695" name="Text 45"/>
          <p:cNvSpPr txBox="1"/>
          <p:nvPr/>
        </p:nvSpPr>
        <p:spPr>
          <a:xfrm>
            <a:off x="9098280" y="5184648"/>
            <a:ext cx="1463040" cy="4572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Post-Lockdown</a:t>
            </a:r>
            <a:endParaRPr dirty="0" sz="1100" lang="en-US"/>
          </a:p>
        </p:txBody>
      </p:sp>
      <p:sp>
        <p:nvSpPr>
          <p:cNvPr id="1048696" name="Shape 46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97" name="Text 47"/>
          <p:cNvSpPr txBox="1"/>
          <p:nvPr/>
        </p:nvSpPr>
        <p:spPr>
          <a:xfrm>
            <a:off x="914400" y="5897880"/>
            <a:ext cx="103327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as a shock absorber:  </a:t>
            </a: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work continued as an essential activity, keeping the post-lockdown spread tight — while urban service-sector closures blew the distribution wide open.</a:t>
            </a:r>
            <a:endParaRPr dirty="0" sz="12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Hit Hardest</a:t>
            </a:r>
            <a:endParaRPr dirty="0" sz="3200" lang="en-US"/>
          </a:p>
        </p:txBody>
      </p:sp>
      <p:sp>
        <p:nvSpPr>
          <p:cNvPr id="1048702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affected states and their monthly trajectory</a:t>
            </a:r>
            <a:endParaRPr dirty="0" sz="1400" lang="en-US"/>
          </a:p>
        </p:txBody>
      </p:sp>
      <p:graphicFrame>
        <p:nvGraphicFramePr>
          <p:cNvPr id="4194305" name="Chart 0" descr=""/>
          <p:cNvGraphicFramePr>
            <a:graphicFrameLocks/>
          </p:cNvGraphicFramePr>
          <p:nvPr/>
        </p:nvGraphicFramePr>
        <p:xfrm>
          <a:off x="457200" y="155448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703" name="Text 2"/>
          <p:cNvSpPr txBox="1"/>
          <p:nvPr/>
        </p:nvSpPr>
        <p:spPr>
          <a:xfrm>
            <a:off x="6629400" y="1600200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× MONTH INTENSITY (2020)</a:t>
            </a:r>
            <a:endParaRPr dirty="0" sz="1100" lang="en-US"/>
          </a:p>
        </p:txBody>
      </p:sp>
      <p:sp>
        <p:nvSpPr>
          <p:cNvPr id="1048704" name="Text 3"/>
          <p:cNvSpPr txBox="1"/>
          <p:nvPr/>
        </p:nvSpPr>
        <p:spPr>
          <a:xfrm>
            <a:off x="7680960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dirty="0" sz="1000" lang="en-US"/>
          </a:p>
        </p:txBody>
      </p:sp>
      <p:sp>
        <p:nvSpPr>
          <p:cNvPr id="1048705" name="Text 4"/>
          <p:cNvSpPr txBox="1"/>
          <p:nvPr/>
        </p:nvSpPr>
        <p:spPr>
          <a:xfrm>
            <a:off x="8339328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dirty="0" sz="1000" lang="en-US"/>
          </a:p>
        </p:txBody>
      </p:sp>
      <p:sp>
        <p:nvSpPr>
          <p:cNvPr id="1048706" name="Text 5"/>
          <p:cNvSpPr txBox="1"/>
          <p:nvPr/>
        </p:nvSpPr>
        <p:spPr>
          <a:xfrm>
            <a:off x="8997696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dirty="0" sz="1000" lang="en-US"/>
          </a:p>
        </p:txBody>
      </p:sp>
      <p:sp>
        <p:nvSpPr>
          <p:cNvPr id="1048707" name="Text 6"/>
          <p:cNvSpPr txBox="1"/>
          <p:nvPr/>
        </p:nvSpPr>
        <p:spPr>
          <a:xfrm>
            <a:off x="9656064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dirty="0" sz="1000" lang="en-US"/>
          </a:p>
        </p:txBody>
      </p:sp>
      <p:sp>
        <p:nvSpPr>
          <p:cNvPr id="1048708" name="Text 7"/>
          <p:cNvSpPr txBox="1"/>
          <p:nvPr/>
        </p:nvSpPr>
        <p:spPr>
          <a:xfrm>
            <a:off x="10314432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dirty="0" sz="1000" lang="en-US"/>
          </a:p>
        </p:txBody>
      </p:sp>
      <p:sp>
        <p:nvSpPr>
          <p:cNvPr id="1048709" name="Text 8"/>
          <p:cNvSpPr txBox="1"/>
          <p:nvPr/>
        </p:nvSpPr>
        <p:spPr>
          <a:xfrm>
            <a:off x="10972800" y="1920240"/>
            <a:ext cx="658368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dirty="0" sz="1000" lang="en-US"/>
          </a:p>
        </p:txBody>
      </p:sp>
      <p:sp>
        <p:nvSpPr>
          <p:cNvPr id="1048710" name="Text 9"/>
          <p:cNvSpPr txBox="1"/>
          <p:nvPr/>
        </p:nvSpPr>
        <p:spPr>
          <a:xfrm>
            <a:off x="6629400" y="2212848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Tripura</a:t>
            </a:r>
            <a:endParaRPr dirty="0" sz="1000" lang="en-US"/>
          </a:p>
        </p:txBody>
      </p:sp>
      <p:sp>
        <p:nvSpPr>
          <p:cNvPr id="1048711" name="Shape 10"/>
          <p:cNvSpPr/>
          <p:nvPr/>
        </p:nvSpPr>
        <p:spPr>
          <a:xfrm>
            <a:off x="7680960" y="2212848"/>
            <a:ext cx="621792" cy="493776"/>
          </a:xfrm>
          <a:prstGeom prst="rect"/>
          <a:solidFill>
            <a:srgbClr val="E8D7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12" name="Text 11"/>
          <p:cNvSpPr txBox="1"/>
          <p:nvPr/>
        </p:nvSpPr>
        <p:spPr>
          <a:xfrm>
            <a:off x="7680960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850" lang="en-US"/>
          </a:p>
        </p:txBody>
      </p:sp>
      <p:sp>
        <p:nvSpPr>
          <p:cNvPr id="1048713" name="Shape 12"/>
          <p:cNvSpPr/>
          <p:nvPr/>
        </p:nvSpPr>
        <p:spPr>
          <a:xfrm>
            <a:off x="8339328" y="2212848"/>
            <a:ext cx="621792" cy="493776"/>
          </a:xfrm>
          <a:prstGeom prst="rect"/>
          <a:solidFill>
            <a:srgbClr val="E7D5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14" name="Text 13"/>
          <p:cNvSpPr txBox="1"/>
          <p:nvPr/>
        </p:nvSpPr>
        <p:spPr>
          <a:xfrm>
            <a:off x="8339328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850" lang="en-US"/>
          </a:p>
        </p:txBody>
      </p:sp>
      <p:sp>
        <p:nvSpPr>
          <p:cNvPr id="1048715" name="Shape 14"/>
          <p:cNvSpPr/>
          <p:nvPr/>
        </p:nvSpPr>
        <p:spPr>
          <a:xfrm>
            <a:off x="8997696" y="2212848"/>
            <a:ext cx="621792" cy="493776"/>
          </a:xfrm>
          <a:prstGeom prst="rect"/>
          <a:solidFill>
            <a:srgbClr val="DFB2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16" name="Text 15"/>
          <p:cNvSpPr txBox="1"/>
          <p:nvPr/>
        </p:nvSpPr>
        <p:spPr>
          <a:xfrm>
            <a:off x="8997696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dirty="0" sz="850" lang="en-US"/>
          </a:p>
        </p:txBody>
      </p:sp>
      <p:sp>
        <p:nvSpPr>
          <p:cNvPr id="1048717" name="Shape 16"/>
          <p:cNvSpPr/>
          <p:nvPr/>
        </p:nvSpPr>
        <p:spPr>
          <a:xfrm>
            <a:off x="9656064" y="2212848"/>
            <a:ext cx="621792" cy="493776"/>
          </a:xfrm>
          <a:prstGeom prst="rect"/>
          <a:solidFill>
            <a:srgbClr val="C242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18" name="Text 17"/>
          <p:cNvSpPr txBox="1"/>
          <p:nvPr/>
        </p:nvSpPr>
        <p:spPr>
          <a:xfrm>
            <a:off x="9656064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dirty="0" sz="850" lang="en-US"/>
          </a:p>
        </p:txBody>
      </p:sp>
      <p:sp>
        <p:nvSpPr>
          <p:cNvPr id="1048719" name="Shape 18"/>
          <p:cNvSpPr/>
          <p:nvPr/>
        </p:nvSpPr>
        <p:spPr>
          <a:xfrm>
            <a:off x="10314432" y="2212848"/>
            <a:ext cx="621792" cy="493776"/>
          </a:xfrm>
          <a:prstGeom prst="rect"/>
          <a:solidFill>
            <a:srgbClr val="C755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20" name="Text 19"/>
          <p:cNvSpPr txBox="1"/>
          <p:nvPr/>
        </p:nvSpPr>
        <p:spPr>
          <a:xfrm>
            <a:off x="10314432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dirty="0" sz="850" lang="en-US"/>
          </a:p>
        </p:txBody>
      </p:sp>
      <p:sp>
        <p:nvSpPr>
          <p:cNvPr id="1048721" name="Shape 20"/>
          <p:cNvSpPr/>
          <p:nvPr/>
        </p:nvSpPr>
        <p:spPr>
          <a:xfrm>
            <a:off x="10972800" y="2212848"/>
            <a:ext cx="621792" cy="493776"/>
          </a:xfrm>
          <a:prstGeom prst="rect"/>
          <a:solidFill>
            <a:srgbClr val="CF73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22" name="Text 21"/>
          <p:cNvSpPr txBox="1"/>
          <p:nvPr/>
        </p:nvSpPr>
        <p:spPr>
          <a:xfrm>
            <a:off x="10972800" y="221284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dirty="0" sz="850" lang="en-US"/>
          </a:p>
        </p:txBody>
      </p:sp>
      <p:sp>
        <p:nvSpPr>
          <p:cNvPr id="1048723" name="Text 22"/>
          <p:cNvSpPr txBox="1"/>
          <p:nvPr/>
        </p:nvSpPr>
        <p:spPr>
          <a:xfrm>
            <a:off x="6629400" y="2743200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Puducherry</a:t>
            </a:r>
            <a:endParaRPr dirty="0" sz="1000" lang="en-US"/>
          </a:p>
        </p:txBody>
      </p:sp>
      <p:sp>
        <p:nvSpPr>
          <p:cNvPr id="1048724" name="Shape 23"/>
          <p:cNvSpPr/>
          <p:nvPr/>
        </p:nvSpPr>
        <p:spPr>
          <a:xfrm>
            <a:off x="7680960" y="2743200"/>
            <a:ext cx="621792" cy="493776"/>
          </a:xfrm>
          <a:prstGeom prst="rect"/>
          <a:solidFill>
            <a:srgbClr val="E9DC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25" name="Text 24"/>
          <p:cNvSpPr txBox="1"/>
          <p:nvPr/>
        </p:nvSpPr>
        <p:spPr>
          <a:xfrm>
            <a:off x="7680960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850" lang="en-US"/>
          </a:p>
        </p:txBody>
      </p:sp>
      <p:sp>
        <p:nvSpPr>
          <p:cNvPr id="1048726" name="Shape 25"/>
          <p:cNvSpPr/>
          <p:nvPr/>
        </p:nvSpPr>
        <p:spPr>
          <a:xfrm>
            <a:off x="8339328" y="2743200"/>
            <a:ext cx="621792" cy="493776"/>
          </a:xfrm>
          <a:prstGeom prst="rect"/>
          <a:solidFill>
            <a:srgbClr val="E9D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27" name="Text 26"/>
          <p:cNvSpPr txBox="1"/>
          <p:nvPr/>
        </p:nvSpPr>
        <p:spPr>
          <a:xfrm>
            <a:off x="8339328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850" lang="en-US"/>
          </a:p>
        </p:txBody>
      </p:sp>
      <p:sp>
        <p:nvSpPr>
          <p:cNvPr id="1048728" name="Shape 27"/>
          <p:cNvSpPr/>
          <p:nvPr/>
        </p:nvSpPr>
        <p:spPr>
          <a:xfrm>
            <a:off x="8997696" y="2743200"/>
            <a:ext cx="621792" cy="493776"/>
          </a:xfrm>
          <a:prstGeom prst="rect"/>
          <a:solidFill>
            <a:srgbClr val="E0B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29" name="Text 28"/>
          <p:cNvSpPr txBox="1"/>
          <p:nvPr/>
        </p:nvSpPr>
        <p:spPr>
          <a:xfrm>
            <a:off x="8997696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dirty="0" sz="850" lang="en-US"/>
          </a:p>
        </p:txBody>
      </p:sp>
      <p:sp>
        <p:nvSpPr>
          <p:cNvPr id="1048730" name="Shape 29"/>
          <p:cNvSpPr/>
          <p:nvPr/>
        </p:nvSpPr>
        <p:spPr>
          <a:xfrm>
            <a:off x="9656064" y="2743200"/>
            <a:ext cx="621792" cy="493776"/>
          </a:xfrm>
          <a:prstGeom prst="rect"/>
          <a:solidFill>
            <a:srgbClr val="C54C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31" name="Text 30"/>
          <p:cNvSpPr txBox="1"/>
          <p:nvPr/>
        </p:nvSpPr>
        <p:spPr>
          <a:xfrm>
            <a:off x="9656064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dirty="0" sz="850" lang="en-US"/>
          </a:p>
        </p:txBody>
      </p:sp>
      <p:sp>
        <p:nvSpPr>
          <p:cNvPr id="1048732" name="Shape 31"/>
          <p:cNvSpPr/>
          <p:nvPr/>
        </p:nvSpPr>
        <p:spPr>
          <a:xfrm>
            <a:off x="10314432" y="2743200"/>
            <a:ext cx="621792" cy="493776"/>
          </a:xfrm>
          <a:prstGeom prst="rect"/>
          <a:solidFill>
            <a:srgbClr val="C95C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33" name="Text 32"/>
          <p:cNvSpPr txBox="1"/>
          <p:nvPr/>
        </p:nvSpPr>
        <p:spPr>
          <a:xfrm>
            <a:off x="10314432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dirty="0" sz="850" lang="en-US"/>
          </a:p>
        </p:txBody>
      </p:sp>
      <p:sp>
        <p:nvSpPr>
          <p:cNvPr id="1048734" name="Shape 33"/>
          <p:cNvSpPr/>
          <p:nvPr/>
        </p:nvSpPr>
        <p:spPr>
          <a:xfrm>
            <a:off x="10972800" y="2743200"/>
            <a:ext cx="621792" cy="493776"/>
          </a:xfrm>
          <a:prstGeom prst="rect"/>
          <a:solidFill>
            <a:srgbClr val="D27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35" name="Text 34"/>
          <p:cNvSpPr txBox="1"/>
          <p:nvPr/>
        </p:nvSpPr>
        <p:spPr>
          <a:xfrm>
            <a:off x="10972800" y="2743200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dirty="0" sz="850" lang="en-US"/>
          </a:p>
        </p:txBody>
      </p:sp>
      <p:sp>
        <p:nvSpPr>
          <p:cNvPr id="1048736" name="Text 35"/>
          <p:cNvSpPr txBox="1"/>
          <p:nvPr/>
        </p:nvSpPr>
        <p:spPr>
          <a:xfrm>
            <a:off x="6629400" y="3273552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Jharkhand</a:t>
            </a:r>
            <a:endParaRPr dirty="0" sz="1000" lang="en-US"/>
          </a:p>
        </p:txBody>
      </p:sp>
      <p:sp>
        <p:nvSpPr>
          <p:cNvPr id="1048737" name="Shape 36"/>
          <p:cNvSpPr/>
          <p:nvPr/>
        </p:nvSpPr>
        <p:spPr>
          <a:xfrm>
            <a:off x="7680960" y="3273552"/>
            <a:ext cx="621792" cy="493776"/>
          </a:xfrm>
          <a:prstGeom prst="rect"/>
          <a:solidFill>
            <a:srgbClr val="EAE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38" name="Text 37"/>
          <p:cNvSpPr txBox="1"/>
          <p:nvPr/>
        </p:nvSpPr>
        <p:spPr>
          <a:xfrm>
            <a:off x="7680960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850" lang="en-US"/>
          </a:p>
        </p:txBody>
      </p:sp>
      <p:sp>
        <p:nvSpPr>
          <p:cNvPr id="1048739" name="Shape 38"/>
          <p:cNvSpPr/>
          <p:nvPr/>
        </p:nvSpPr>
        <p:spPr>
          <a:xfrm>
            <a:off x="8339328" y="3273552"/>
            <a:ext cx="621792" cy="493776"/>
          </a:xfrm>
          <a:prstGeom prst="rect"/>
          <a:solidFill>
            <a:srgbClr val="EADE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40" name="Text 39"/>
          <p:cNvSpPr txBox="1"/>
          <p:nvPr/>
        </p:nvSpPr>
        <p:spPr>
          <a:xfrm>
            <a:off x="8339328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850" lang="en-US"/>
          </a:p>
        </p:txBody>
      </p:sp>
      <p:sp>
        <p:nvSpPr>
          <p:cNvPr id="1048741" name="Shape 40"/>
          <p:cNvSpPr/>
          <p:nvPr/>
        </p:nvSpPr>
        <p:spPr>
          <a:xfrm>
            <a:off x="8997696" y="3273552"/>
            <a:ext cx="621792" cy="493776"/>
          </a:xfrm>
          <a:prstGeom prst="rect"/>
          <a:solidFill>
            <a:srgbClr val="E3C5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42" name="Text 41"/>
          <p:cNvSpPr txBox="1"/>
          <p:nvPr/>
        </p:nvSpPr>
        <p:spPr>
          <a:xfrm>
            <a:off x="8997696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dirty="0" sz="850" lang="en-US"/>
          </a:p>
        </p:txBody>
      </p:sp>
      <p:sp>
        <p:nvSpPr>
          <p:cNvPr id="1048743" name="Shape 42"/>
          <p:cNvSpPr/>
          <p:nvPr/>
        </p:nvSpPr>
        <p:spPr>
          <a:xfrm>
            <a:off x="9656064" y="3273552"/>
            <a:ext cx="621792" cy="493776"/>
          </a:xfrm>
          <a:prstGeom prst="rect"/>
          <a:solidFill>
            <a:srgbClr val="D07A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44" name="Text 43"/>
          <p:cNvSpPr txBox="1"/>
          <p:nvPr/>
        </p:nvSpPr>
        <p:spPr>
          <a:xfrm>
            <a:off x="9656064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dirty="0" sz="850" lang="en-US"/>
          </a:p>
        </p:txBody>
      </p:sp>
      <p:sp>
        <p:nvSpPr>
          <p:cNvPr id="1048745" name="Shape 44"/>
          <p:cNvSpPr/>
          <p:nvPr/>
        </p:nvSpPr>
        <p:spPr>
          <a:xfrm>
            <a:off x="10314432" y="3273552"/>
            <a:ext cx="621792" cy="493776"/>
          </a:xfrm>
          <a:prstGeom prst="rect"/>
          <a:solidFill>
            <a:srgbClr val="D383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46" name="Text 45"/>
          <p:cNvSpPr txBox="1"/>
          <p:nvPr/>
        </p:nvSpPr>
        <p:spPr>
          <a:xfrm>
            <a:off x="10314432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dirty="0" sz="850" lang="en-US"/>
          </a:p>
        </p:txBody>
      </p:sp>
      <p:sp>
        <p:nvSpPr>
          <p:cNvPr id="1048747" name="Shape 46"/>
          <p:cNvSpPr/>
          <p:nvPr/>
        </p:nvSpPr>
        <p:spPr>
          <a:xfrm>
            <a:off x="10972800" y="3273552"/>
            <a:ext cx="621792" cy="493776"/>
          </a:xfrm>
          <a:prstGeom prst="rect"/>
          <a:solidFill>
            <a:srgbClr val="D896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48" name="Text 47"/>
          <p:cNvSpPr txBox="1"/>
          <p:nvPr/>
        </p:nvSpPr>
        <p:spPr>
          <a:xfrm>
            <a:off x="10972800" y="3273552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dirty="0" sz="850" lang="en-US"/>
          </a:p>
        </p:txBody>
      </p:sp>
      <p:sp>
        <p:nvSpPr>
          <p:cNvPr id="1048749" name="Text 48"/>
          <p:cNvSpPr txBox="1"/>
          <p:nvPr/>
        </p:nvSpPr>
        <p:spPr>
          <a:xfrm>
            <a:off x="6629400" y="3803904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</a:t>
            </a:r>
            <a:endParaRPr dirty="0" sz="1000" lang="en-US"/>
          </a:p>
        </p:txBody>
      </p:sp>
      <p:sp>
        <p:nvSpPr>
          <p:cNvPr id="1048750" name="Shape 49"/>
          <p:cNvSpPr/>
          <p:nvPr/>
        </p:nvSpPr>
        <p:spPr>
          <a:xfrm>
            <a:off x="7680960" y="3803904"/>
            <a:ext cx="621792" cy="493776"/>
          </a:xfrm>
          <a:prstGeom prst="rect"/>
          <a:solidFill>
            <a:srgbClr val="EBE3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51" name="Text 50"/>
          <p:cNvSpPr txBox="1"/>
          <p:nvPr/>
        </p:nvSpPr>
        <p:spPr>
          <a:xfrm>
            <a:off x="7680960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850" lang="en-US"/>
          </a:p>
        </p:txBody>
      </p:sp>
      <p:sp>
        <p:nvSpPr>
          <p:cNvPr id="1048752" name="Shape 51"/>
          <p:cNvSpPr/>
          <p:nvPr/>
        </p:nvSpPr>
        <p:spPr>
          <a:xfrm>
            <a:off x="8339328" y="3803904"/>
            <a:ext cx="621792" cy="493776"/>
          </a:xfrm>
          <a:prstGeom prst="rect"/>
          <a:solidFill>
            <a:srgbClr val="EAE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53" name="Text 52"/>
          <p:cNvSpPr txBox="1"/>
          <p:nvPr/>
        </p:nvSpPr>
        <p:spPr>
          <a:xfrm>
            <a:off x="8339328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850" lang="en-US"/>
          </a:p>
        </p:txBody>
      </p:sp>
      <p:sp>
        <p:nvSpPr>
          <p:cNvPr id="1048754" name="Shape 53"/>
          <p:cNvSpPr/>
          <p:nvPr/>
        </p:nvSpPr>
        <p:spPr>
          <a:xfrm>
            <a:off x="8997696" y="3803904"/>
            <a:ext cx="621792" cy="493776"/>
          </a:xfrm>
          <a:prstGeom prst="rect"/>
          <a:solidFill>
            <a:srgbClr val="E4C9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55" name="Text 54"/>
          <p:cNvSpPr txBox="1"/>
          <p:nvPr/>
        </p:nvSpPr>
        <p:spPr>
          <a:xfrm>
            <a:off x="8997696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dirty="0" sz="850" lang="en-US"/>
          </a:p>
        </p:txBody>
      </p:sp>
      <p:sp>
        <p:nvSpPr>
          <p:cNvPr id="1048756" name="Shape 55"/>
          <p:cNvSpPr/>
          <p:nvPr/>
        </p:nvSpPr>
        <p:spPr>
          <a:xfrm>
            <a:off x="9656064" y="3803904"/>
            <a:ext cx="621792" cy="493776"/>
          </a:xfrm>
          <a:prstGeom prst="rect"/>
          <a:solidFill>
            <a:srgbClr val="D383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57" name="Text 56"/>
          <p:cNvSpPr txBox="1"/>
          <p:nvPr/>
        </p:nvSpPr>
        <p:spPr>
          <a:xfrm>
            <a:off x="9656064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dirty="0" sz="850" lang="en-US"/>
          </a:p>
        </p:txBody>
      </p:sp>
      <p:sp>
        <p:nvSpPr>
          <p:cNvPr id="1048758" name="Shape 57"/>
          <p:cNvSpPr/>
          <p:nvPr/>
        </p:nvSpPr>
        <p:spPr>
          <a:xfrm>
            <a:off x="10314432" y="3803904"/>
            <a:ext cx="621792" cy="493776"/>
          </a:xfrm>
          <a:prstGeom prst="rect"/>
          <a:solidFill>
            <a:srgbClr val="D58D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59" name="Text 58"/>
          <p:cNvSpPr txBox="1"/>
          <p:nvPr/>
        </p:nvSpPr>
        <p:spPr>
          <a:xfrm>
            <a:off x="10314432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dirty="0" sz="850" lang="en-US"/>
          </a:p>
        </p:txBody>
      </p:sp>
      <p:sp>
        <p:nvSpPr>
          <p:cNvPr id="1048760" name="Shape 59"/>
          <p:cNvSpPr/>
          <p:nvPr/>
        </p:nvSpPr>
        <p:spPr>
          <a:xfrm>
            <a:off x="10972800" y="3803904"/>
            <a:ext cx="621792" cy="493776"/>
          </a:xfrm>
          <a:prstGeom prst="rect"/>
          <a:solidFill>
            <a:srgbClr val="D99B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61" name="Text 60"/>
          <p:cNvSpPr txBox="1"/>
          <p:nvPr/>
        </p:nvSpPr>
        <p:spPr>
          <a:xfrm>
            <a:off x="10972800" y="3803904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dirty="0" sz="850" lang="en-US"/>
          </a:p>
        </p:txBody>
      </p:sp>
      <p:sp>
        <p:nvSpPr>
          <p:cNvPr id="1048762" name="Text 61"/>
          <p:cNvSpPr txBox="1"/>
          <p:nvPr/>
        </p:nvSpPr>
        <p:spPr>
          <a:xfrm>
            <a:off x="6629400" y="4334256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dirty="0" sz="1000" lang="en-US"/>
          </a:p>
        </p:txBody>
      </p:sp>
      <p:sp>
        <p:nvSpPr>
          <p:cNvPr id="1048763" name="Shape 62"/>
          <p:cNvSpPr/>
          <p:nvPr/>
        </p:nvSpPr>
        <p:spPr>
          <a:xfrm>
            <a:off x="7680960" y="4334256"/>
            <a:ext cx="621792" cy="493776"/>
          </a:xfrm>
          <a:prstGeom prst="rect"/>
          <a:solidFill>
            <a:srgbClr val="EADE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64" name="Text 63"/>
          <p:cNvSpPr txBox="1"/>
          <p:nvPr/>
        </p:nvSpPr>
        <p:spPr>
          <a:xfrm>
            <a:off x="7680960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850" lang="en-US"/>
          </a:p>
        </p:txBody>
      </p:sp>
      <p:sp>
        <p:nvSpPr>
          <p:cNvPr id="1048765" name="Shape 64"/>
          <p:cNvSpPr/>
          <p:nvPr/>
        </p:nvSpPr>
        <p:spPr>
          <a:xfrm>
            <a:off x="8339328" y="4334256"/>
            <a:ext cx="621792" cy="493776"/>
          </a:xfrm>
          <a:prstGeom prst="rect"/>
          <a:solidFill>
            <a:srgbClr val="E9DC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66" name="Text 65"/>
          <p:cNvSpPr txBox="1"/>
          <p:nvPr/>
        </p:nvSpPr>
        <p:spPr>
          <a:xfrm>
            <a:off x="8339328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850" lang="en-US"/>
          </a:p>
        </p:txBody>
      </p:sp>
      <p:sp>
        <p:nvSpPr>
          <p:cNvPr id="1048767" name="Shape 66"/>
          <p:cNvSpPr/>
          <p:nvPr/>
        </p:nvSpPr>
        <p:spPr>
          <a:xfrm>
            <a:off x="8997696" y="4334256"/>
            <a:ext cx="621792" cy="493776"/>
          </a:xfrm>
          <a:prstGeom prst="rect"/>
          <a:solidFill>
            <a:srgbClr val="E2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68" name="Text 67"/>
          <p:cNvSpPr txBox="1"/>
          <p:nvPr/>
        </p:nvSpPr>
        <p:spPr>
          <a:xfrm>
            <a:off x="8997696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dirty="0" sz="850" lang="en-US"/>
          </a:p>
        </p:txBody>
      </p:sp>
      <p:sp>
        <p:nvSpPr>
          <p:cNvPr id="1048769" name="Shape 68"/>
          <p:cNvSpPr/>
          <p:nvPr/>
        </p:nvSpPr>
        <p:spPr>
          <a:xfrm>
            <a:off x="9656064" y="4334256"/>
            <a:ext cx="621792" cy="493776"/>
          </a:xfrm>
          <a:prstGeom prst="rect"/>
          <a:solidFill>
            <a:srgbClr val="D58D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70" name="Text 69"/>
          <p:cNvSpPr txBox="1"/>
          <p:nvPr/>
        </p:nvSpPr>
        <p:spPr>
          <a:xfrm>
            <a:off x="9656064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dirty="0" sz="850" lang="en-US"/>
          </a:p>
        </p:txBody>
      </p:sp>
      <p:sp>
        <p:nvSpPr>
          <p:cNvPr id="1048771" name="Shape 70"/>
          <p:cNvSpPr/>
          <p:nvPr/>
        </p:nvSpPr>
        <p:spPr>
          <a:xfrm>
            <a:off x="10314432" y="4334256"/>
            <a:ext cx="621792" cy="493776"/>
          </a:xfrm>
          <a:prstGeom prst="rect"/>
          <a:solidFill>
            <a:srgbClr val="D896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72" name="Text 71"/>
          <p:cNvSpPr txBox="1"/>
          <p:nvPr/>
        </p:nvSpPr>
        <p:spPr>
          <a:xfrm>
            <a:off x="10314432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dirty="0" sz="850" lang="en-US"/>
          </a:p>
        </p:txBody>
      </p:sp>
      <p:sp>
        <p:nvSpPr>
          <p:cNvPr id="1048773" name="Shape 72"/>
          <p:cNvSpPr/>
          <p:nvPr/>
        </p:nvSpPr>
        <p:spPr>
          <a:xfrm>
            <a:off x="10972800" y="4334256"/>
            <a:ext cx="621792" cy="493776"/>
          </a:xfrm>
          <a:prstGeom prst="rect"/>
          <a:solidFill>
            <a:srgbClr val="DBA4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74" name="Text 73"/>
          <p:cNvSpPr txBox="1"/>
          <p:nvPr/>
        </p:nvSpPr>
        <p:spPr>
          <a:xfrm>
            <a:off x="10972800" y="4334256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dirty="0" sz="850" lang="en-US"/>
          </a:p>
        </p:txBody>
      </p:sp>
      <p:sp>
        <p:nvSpPr>
          <p:cNvPr id="1048775" name="Text 74"/>
          <p:cNvSpPr txBox="1"/>
          <p:nvPr/>
        </p:nvSpPr>
        <p:spPr>
          <a:xfrm>
            <a:off x="6629400" y="4864608"/>
            <a:ext cx="960120" cy="53035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0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dirty="0" sz="1000" lang="en-US"/>
          </a:p>
        </p:txBody>
      </p:sp>
      <p:sp>
        <p:nvSpPr>
          <p:cNvPr id="1048776" name="Shape 75"/>
          <p:cNvSpPr/>
          <p:nvPr/>
        </p:nvSpPr>
        <p:spPr>
          <a:xfrm>
            <a:off x="7680960" y="4864608"/>
            <a:ext cx="621792" cy="493776"/>
          </a:xfrm>
          <a:prstGeom prst="rect"/>
          <a:solidFill>
            <a:srgbClr val="EAE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77" name="Text 76"/>
          <p:cNvSpPr txBox="1"/>
          <p:nvPr/>
        </p:nvSpPr>
        <p:spPr>
          <a:xfrm>
            <a:off x="7680960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850" lang="en-US"/>
          </a:p>
        </p:txBody>
      </p:sp>
      <p:sp>
        <p:nvSpPr>
          <p:cNvPr id="1048778" name="Shape 77"/>
          <p:cNvSpPr/>
          <p:nvPr/>
        </p:nvSpPr>
        <p:spPr>
          <a:xfrm>
            <a:off x="8339328" y="4864608"/>
            <a:ext cx="621792" cy="493776"/>
          </a:xfrm>
          <a:prstGeom prst="rect"/>
          <a:solidFill>
            <a:srgbClr val="EADE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79" name="Text 78"/>
          <p:cNvSpPr txBox="1"/>
          <p:nvPr/>
        </p:nvSpPr>
        <p:spPr>
          <a:xfrm>
            <a:off x="8339328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850" lang="en-US"/>
          </a:p>
        </p:txBody>
      </p:sp>
      <p:sp>
        <p:nvSpPr>
          <p:cNvPr id="1048780" name="Shape 79"/>
          <p:cNvSpPr/>
          <p:nvPr/>
        </p:nvSpPr>
        <p:spPr>
          <a:xfrm>
            <a:off x="8997696" y="4864608"/>
            <a:ext cx="621792" cy="493776"/>
          </a:xfrm>
          <a:prstGeom prst="rect"/>
          <a:solidFill>
            <a:srgbClr val="E4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81" name="Text 80"/>
          <p:cNvSpPr txBox="1"/>
          <p:nvPr/>
        </p:nvSpPr>
        <p:spPr>
          <a:xfrm>
            <a:off x="8997696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dirty="0" sz="850" lang="en-US"/>
          </a:p>
        </p:txBody>
      </p:sp>
      <p:sp>
        <p:nvSpPr>
          <p:cNvPr id="1048782" name="Shape 81"/>
          <p:cNvSpPr/>
          <p:nvPr/>
        </p:nvSpPr>
        <p:spPr>
          <a:xfrm>
            <a:off x="9656064" y="4864608"/>
            <a:ext cx="621792" cy="493776"/>
          </a:xfrm>
          <a:prstGeom prst="rect"/>
          <a:solidFill>
            <a:srgbClr val="D691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83" name="Text 82"/>
          <p:cNvSpPr txBox="1"/>
          <p:nvPr/>
        </p:nvSpPr>
        <p:spPr>
          <a:xfrm>
            <a:off x="9656064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dirty="0" sz="850" lang="en-US"/>
          </a:p>
        </p:txBody>
      </p:sp>
      <p:sp>
        <p:nvSpPr>
          <p:cNvPr id="1048784" name="Shape 83"/>
          <p:cNvSpPr/>
          <p:nvPr/>
        </p:nvSpPr>
        <p:spPr>
          <a:xfrm>
            <a:off x="10314432" y="4864608"/>
            <a:ext cx="621792" cy="493776"/>
          </a:xfrm>
          <a:prstGeom prst="rect"/>
          <a:solidFill>
            <a:srgbClr val="D99B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85" name="Text 84"/>
          <p:cNvSpPr txBox="1"/>
          <p:nvPr/>
        </p:nvSpPr>
        <p:spPr>
          <a:xfrm>
            <a:off x="10314432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dirty="0" sz="850" lang="en-US"/>
          </a:p>
        </p:txBody>
      </p:sp>
      <p:sp>
        <p:nvSpPr>
          <p:cNvPr id="1048786" name="Shape 85"/>
          <p:cNvSpPr/>
          <p:nvPr/>
        </p:nvSpPr>
        <p:spPr>
          <a:xfrm>
            <a:off x="10972800" y="4864608"/>
            <a:ext cx="621792" cy="493776"/>
          </a:xfrm>
          <a:prstGeom prst="rect"/>
          <a:solidFill>
            <a:srgbClr val="DCA6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787" name="Text 86"/>
          <p:cNvSpPr txBox="1"/>
          <p:nvPr/>
        </p:nvSpPr>
        <p:spPr>
          <a:xfrm>
            <a:off x="10972800" y="4864608"/>
            <a:ext cx="621792" cy="49377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dirty="0" sz="850" lang="en-US"/>
          </a:p>
        </p:txBody>
      </p:sp>
      <p:sp>
        <p:nvSpPr>
          <p:cNvPr id="1048788" name="Text 87"/>
          <p:cNvSpPr txBox="1"/>
          <p:nvPr/>
        </p:nvSpPr>
        <p:spPr>
          <a:xfrm>
            <a:off x="7680960" y="5623560"/>
            <a:ext cx="5486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dirty="0" sz="900" lang="en-US"/>
          </a:p>
        </p:txBody>
      </p:sp>
      <p:sp>
        <p:nvSpPr>
          <p:cNvPr id="1048789" name="Shape 88"/>
          <p:cNvSpPr/>
          <p:nvPr/>
        </p:nvSpPr>
        <p:spPr>
          <a:xfrm>
            <a:off x="8138160" y="5623560"/>
            <a:ext cx="256032" cy="201168"/>
          </a:xfrm>
          <a:prstGeom prst="rect"/>
          <a:solidFill>
            <a:srgbClr val="EFF3F8"/>
          </a:solidFill>
        </p:spPr>
      </p:sp>
      <p:sp>
        <p:nvSpPr>
          <p:cNvPr id="1048790" name="Shape 89"/>
          <p:cNvSpPr/>
          <p:nvPr/>
        </p:nvSpPr>
        <p:spPr>
          <a:xfrm>
            <a:off x="8394192" y="5623560"/>
            <a:ext cx="256032" cy="201168"/>
          </a:xfrm>
          <a:prstGeom prst="rect"/>
          <a:solidFill>
            <a:srgbClr val="EADEE1"/>
          </a:solidFill>
        </p:spPr>
      </p:sp>
      <p:sp>
        <p:nvSpPr>
          <p:cNvPr id="1048791" name="Shape 90"/>
          <p:cNvSpPr/>
          <p:nvPr/>
        </p:nvSpPr>
        <p:spPr>
          <a:xfrm>
            <a:off x="8650224" y="5623560"/>
            <a:ext cx="256032" cy="201168"/>
          </a:xfrm>
          <a:prstGeom prst="rect"/>
          <a:solidFill>
            <a:srgbClr val="E5CACA"/>
          </a:solidFill>
        </p:spPr>
      </p:sp>
      <p:sp>
        <p:nvSpPr>
          <p:cNvPr id="1048792" name="Shape 91"/>
          <p:cNvSpPr/>
          <p:nvPr/>
        </p:nvSpPr>
        <p:spPr>
          <a:xfrm>
            <a:off x="8906256" y="5623560"/>
            <a:ext cx="256032" cy="201168"/>
          </a:xfrm>
          <a:prstGeom prst="rect"/>
          <a:solidFill>
            <a:srgbClr val="DFB5B4"/>
          </a:solidFill>
        </p:spPr>
      </p:sp>
      <p:sp>
        <p:nvSpPr>
          <p:cNvPr id="1048793" name="Shape 92"/>
          <p:cNvSpPr/>
          <p:nvPr/>
        </p:nvSpPr>
        <p:spPr>
          <a:xfrm>
            <a:off x="9162288" y="5623560"/>
            <a:ext cx="256032" cy="201168"/>
          </a:xfrm>
          <a:prstGeom prst="rect"/>
          <a:solidFill>
            <a:srgbClr val="DAA09D"/>
          </a:solidFill>
        </p:spPr>
      </p:sp>
      <p:sp>
        <p:nvSpPr>
          <p:cNvPr id="1048794" name="Shape 93"/>
          <p:cNvSpPr/>
          <p:nvPr/>
        </p:nvSpPr>
        <p:spPr>
          <a:xfrm>
            <a:off x="9418320" y="5623560"/>
            <a:ext cx="256032" cy="201168"/>
          </a:xfrm>
          <a:prstGeom prst="rect"/>
          <a:solidFill>
            <a:srgbClr val="D58C86"/>
          </a:solidFill>
        </p:spPr>
      </p:sp>
      <p:sp>
        <p:nvSpPr>
          <p:cNvPr id="1048795" name="Shape 94"/>
          <p:cNvSpPr/>
          <p:nvPr/>
        </p:nvSpPr>
        <p:spPr>
          <a:xfrm>
            <a:off x="9674352" y="5623560"/>
            <a:ext cx="256032" cy="201168"/>
          </a:xfrm>
          <a:prstGeom prst="rect"/>
          <a:solidFill>
            <a:srgbClr val="D0776F"/>
          </a:solidFill>
        </p:spPr>
      </p:sp>
      <p:sp>
        <p:nvSpPr>
          <p:cNvPr id="1048796" name="Shape 95"/>
          <p:cNvSpPr/>
          <p:nvPr/>
        </p:nvSpPr>
        <p:spPr>
          <a:xfrm>
            <a:off x="9930384" y="5623560"/>
            <a:ext cx="256032" cy="201168"/>
          </a:xfrm>
          <a:prstGeom prst="rect"/>
          <a:solidFill>
            <a:srgbClr val="CA6259"/>
          </a:solidFill>
        </p:spPr>
      </p:sp>
      <p:sp>
        <p:nvSpPr>
          <p:cNvPr id="1048797" name="Shape 96"/>
          <p:cNvSpPr/>
          <p:nvPr/>
        </p:nvSpPr>
        <p:spPr>
          <a:xfrm>
            <a:off x="10186416" y="5623560"/>
            <a:ext cx="256032" cy="201168"/>
          </a:xfrm>
          <a:prstGeom prst="rect"/>
          <a:solidFill>
            <a:srgbClr val="C54E42"/>
          </a:solidFill>
        </p:spPr>
      </p:sp>
      <p:sp>
        <p:nvSpPr>
          <p:cNvPr id="1048798" name="Shape 97"/>
          <p:cNvSpPr/>
          <p:nvPr/>
        </p:nvSpPr>
        <p:spPr>
          <a:xfrm>
            <a:off x="10442448" y="5623560"/>
            <a:ext cx="256032" cy="201168"/>
          </a:xfrm>
          <a:prstGeom prst="rect"/>
          <a:solidFill>
            <a:srgbClr val="C0392B"/>
          </a:solidFill>
        </p:spPr>
      </p:sp>
      <p:sp>
        <p:nvSpPr>
          <p:cNvPr id="1048799" name="Text 98"/>
          <p:cNvSpPr txBox="1"/>
          <p:nvPr/>
        </p:nvSpPr>
        <p:spPr>
          <a:xfrm>
            <a:off x="10744200" y="5623560"/>
            <a:ext cx="5486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dirty="0" sz="900" lang="en-US"/>
          </a:p>
        </p:txBody>
      </p:sp>
      <p:sp>
        <p:nvSpPr>
          <p:cNvPr id="1048800" name="Text 99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Analysis with Python — COVID-19 Impact Study</a:t>
            </a:r>
            <a:endParaRPr dirty="0" sz="900" lang="en-US"/>
          </a:p>
        </p:txBody>
      </p:sp>
      <p:sp>
        <p:nvSpPr>
          <p:cNvPr id="1048801" name="Text 100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Signal</a:t>
            </a:r>
            <a:endParaRPr dirty="0" sz="3200" lang="en-US"/>
          </a:p>
        </p:txBody>
      </p:sp>
      <p:sp>
        <p:nvSpPr>
          <p:cNvPr id="1048806" name="Text 1"/>
          <p:cNvSpPr txBox="1"/>
          <p:nvPr/>
        </p:nvSpPr>
        <p:spPr>
          <a:xfrm>
            <a:off x="640080" y="1024128"/>
            <a:ext cx="105156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discouragement: people didn't just lose jobs — they stopped looking</a:t>
            </a:r>
            <a:endParaRPr dirty="0" sz="1400" lang="en-US"/>
          </a:p>
        </p:txBody>
      </p:sp>
      <p:graphicFrame>
        <p:nvGraphicFramePr>
          <p:cNvPr id="4194306" name="Chart 0" descr=""/>
          <p:cNvGraphicFramePr>
            <a:graphicFrameLocks/>
          </p:cNvGraphicFramePr>
          <p:nvPr/>
        </p:nvGraphicFramePr>
        <p:xfrm>
          <a:off x="548640" y="1554480"/>
          <a:ext cx="110642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807" name="Shape 2"/>
          <p:cNvSpPr/>
          <p:nvPr/>
        </p:nvSpPr>
        <p:spPr>
          <a:xfrm>
            <a:off x="640080" y="5394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</p:spPr>
      </p:sp>
      <p:sp>
        <p:nvSpPr>
          <p:cNvPr id="1048808" name="Text 3"/>
          <p:cNvSpPr txBox="1"/>
          <p:nvPr/>
        </p:nvSpPr>
        <p:spPr>
          <a:xfrm>
            <a:off x="914400" y="5504688"/>
            <a:ext cx="103327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b="1" dirty="0" sz="14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43.89% → 39.33% </a:t>
            </a: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 Rate, alongside </a:t>
            </a:r>
            <a:r>
              <a:rPr b="1" dirty="0" sz="140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 jobs/region</a:t>
            </a: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lost from the active workforce — a discouraged-worker effect that's harder for policy to reverse than a simple layoff.</a:t>
            </a:r>
            <a:endParaRPr dirty="0" sz="1400" lang="en-US"/>
          </a:p>
        </p:txBody>
      </p:sp>
      <p:sp>
        <p:nvSpPr>
          <p:cNvPr id="1048809" name="Text 4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Analysis with Python — COVID-19 Impact Study</a:t>
            </a:r>
            <a:endParaRPr dirty="0" sz="900" lang="en-US"/>
          </a:p>
        </p:txBody>
      </p:sp>
      <p:sp>
        <p:nvSpPr>
          <p:cNvPr id="1048810" name="Text 5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Shape 0"/>
          <p:cNvSpPr/>
          <p:nvPr/>
        </p:nvSpPr>
        <p:spPr>
          <a:xfrm>
            <a:off x="9692640" y="4754880"/>
            <a:ext cx="3657600" cy="3657600"/>
          </a:xfrm>
          <a:prstGeom prst="ellipse"/>
          <a:solidFill>
            <a:srgbClr val="10192A"/>
          </a:solidFill>
        </p:spPr>
      </p:sp>
      <p:sp>
        <p:nvSpPr>
          <p:cNvPr id="1048815" name="Text 1"/>
          <p:cNvSpPr txBox="1"/>
          <p:nvPr/>
        </p:nvSpPr>
        <p:spPr>
          <a:xfrm>
            <a:off x="822960" y="502920"/>
            <a:ext cx="96012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Recommendations</a:t>
            </a:r>
            <a:endParaRPr dirty="0" sz="3200" lang="en-US"/>
          </a:p>
        </p:txBody>
      </p:sp>
      <p:sp>
        <p:nvSpPr>
          <p:cNvPr id="1048816" name="Text 2"/>
          <p:cNvSpPr txBox="1"/>
          <p:nvPr/>
        </p:nvSpPr>
        <p:spPr>
          <a:xfrm>
            <a:off x="822960" y="1069848"/>
            <a:ext cx="91440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data-grounded interventions, ranked by leverage</a:t>
            </a:r>
            <a:endParaRPr dirty="0" sz="1400" lang="en-US"/>
          </a:p>
        </p:txBody>
      </p:sp>
      <p:sp>
        <p:nvSpPr>
          <p:cNvPr id="1048817" name="Shape 3"/>
          <p:cNvSpPr/>
          <p:nvPr/>
        </p:nvSpPr>
        <p:spPr>
          <a:xfrm>
            <a:off x="82296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192A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048818" name="Shape 4"/>
          <p:cNvSpPr/>
          <p:nvPr/>
        </p:nvSpPr>
        <p:spPr>
          <a:xfrm>
            <a:off x="1097280" y="2011680"/>
            <a:ext cx="594360" cy="594360"/>
          </a:xfrm>
          <a:prstGeom prst="ellipse"/>
          <a:solidFill>
            <a:srgbClr val="C0392B"/>
          </a:solidFill>
        </p:spPr>
      </p:sp>
      <p:pic>
        <p:nvPicPr>
          <p:cNvPr id="2097156" name="Image 0" descr="/home/claude/icons2/city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51814" y="2166214"/>
            <a:ext cx="285293" cy="285293"/>
          </a:xfrm>
          <a:prstGeom prst="rect"/>
        </p:spPr>
      </p:pic>
      <p:sp>
        <p:nvSpPr>
          <p:cNvPr id="1048819" name="Text 5"/>
          <p:cNvSpPr txBox="1"/>
          <p:nvPr/>
        </p:nvSpPr>
        <p:spPr>
          <a:xfrm>
            <a:off x="1097280" y="2788920"/>
            <a:ext cx="288036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Urban Relief</a:t>
            </a:r>
            <a:endParaRPr dirty="0" sz="1600" lang="en-US"/>
          </a:p>
        </p:txBody>
      </p:sp>
      <p:sp>
        <p:nvSpPr>
          <p:cNvPr id="1048820" name="Text 6"/>
          <p:cNvSpPr txBox="1"/>
          <p:nvPr/>
        </p:nvSpPr>
        <p:spPr>
          <a:xfrm>
            <a:off x="1097280" y="3337560"/>
            <a:ext cx="2880360" cy="1508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subsidies and retention credits for service-sector employers in the top-10 hardest-hit states.</a:t>
            </a:r>
            <a:endParaRPr dirty="0" sz="1200" lang="en-US"/>
          </a:p>
        </p:txBody>
      </p:sp>
      <p:sp>
        <p:nvSpPr>
          <p:cNvPr id="1048821" name="Text 7"/>
          <p:cNvSpPr txBox="1"/>
          <p:nvPr/>
        </p:nvSpPr>
        <p:spPr>
          <a:xfrm>
            <a:off x="1097280" y="4892040"/>
            <a:ext cx="2880360" cy="365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state-level spike data</a:t>
            </a:r>
            <a:endParaRPr dirty="0" sz="950" lang="en-US"/>
          </a:p>
        </p:txBody>
      </p:sp>
      <p:sp>
        <p:nvSpPr>
          <p:cNvPr id="1048822" name="Shape 8"/>
          <p:cNvSpPr/>
          <p:nvPr/>
        </p:nvSpPr>
        <p:spPr>
          <a:xfrm>
            <a:off x="448056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192A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048823" name="Shape 9"/>
          <p:cNvSpPr/>
          <p:nvPr/>
        </p:nvSpPr>
        <p:spPr>
          <a:xfrm>
            <a:off x="4754880" y="2011680"/>
            <a:ext cx="594360" cy="594360"/>
          </a:xfrm>
          <a:prstGeom prst="ellipse"/>
          <a:solidFill>
            <a:srgbClr val="C0392B"/>
          </a:solidFill>
        </p:spPr>
      </p:sp>
      <p:pic>
        <p:nvPicPr>
          <p:cNvPr id="2097157" name="Image 1" descr="/home/claude/icons2/lea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09414" y="2166214"/>
            <a:ext cx="285293" cy="285293"/>
          </a:xfrm>
          <a:prstGeom prst="rect"/>
        </p:spPr>
      </p:pic>
      <p:sp>
        <p:nvSpPr>
          <p:cNvPr id="1048824" name="Text 10"/>
          <p:cNvSpPr txBox="1"/>
          <p:nvPr/>
        </p:nvSpPr>
        <p:spPr>
          <a:xfrm>
            <a:off x="4754880" y="2788920"/>
            <a:ext cx="288036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Investment</a:t>
            </a:r>
            <a:endParaRPr dirty="0" sz="1600" lang="en-US"/>
          </a:p>
        </p:txBody>
      </p:sp>
      <p:sp>
        <p:nvSpPr>
          <p:cNvPr id="1048825" name="Text 11"/>
          <p:cNvSpPr txBox="1"/>
          <p:nvPr/>
        </p:nvSpPr>
        <p:spPr>
          <a:xfrm>
            <a:off x="4754880" y="3337560"/>
            <a:ext cx="2880360" cy="1508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MGNREGA-style guaranteed employment — the data shows agriculture-linked regions absorbed the shock best.</a:t>
            </a:r>
            <a:endParaRPr dirty="0" sz="1200" lang="en-US"/>
          </a:p>
        </p:txBody>
      </p:sp>
      <p:sp>
        <p:nvSpPr>
          <p:cNvPr id="1048826" name="Text 12"/>
          <p:cNvSpPr txBox="1"/>
          <p:nvPr/>
        </p:nvSpPr>
        <p:spPr>
          <a:xfrm>
            <a:off x="4754880" y="4892040"/>
            <a:ext cx="2880360" cy="365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rural resilience finding</a:t>
            </a:r>
            <a:endParaRPr dirty="0" sz="950" lang="en-US"/>
          </a:p>
        </p:txBody>
      </p:sp>
      <p:sp>
        <p:nvSpPr>
          <p:cNvPr id="1048827" name="Shape 13"/>
          <p:cNvSpPr/>
          <p:nvPr/>
        </p:nvSpPr>
        <p:spPr>
          <a:xfrm>
            <a:off x="813816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192A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048828" name="Shape 14"/>
          <p:cNvSpPr/>
          <p:nvPr/>
        </p:nvSpPr>
        <p:spPr>
          <a:xfrm>
            <a:off x="8412480" y="2011680"/>
            <a:ext cx="594360" cy="594360"/>
          </a:xfrm>
          <a:prstGeom prst="ellipse"/>
          <a:solidFill>
            <a:srgbClr val="C0392B"/>
          </a:solidFill>
        </p:spPr>
      </p:sp>
      <p:pic>
        <p:nvPicPr>
          <p:cNvPr id="2097158" name="Image 2" descr="/home/claude/icons2/userclock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567014" y="2166214"/>
            <a:ext cx="285293" cy="285293"/>
          </a:xfrm>
          <a:prstGeom prst="rect"/>
        </p:spPr>
      </p:pic>
      <p:sp>
        <p:nvSpPr>
          <p:cNvPr id="1048829" name="Text 15"/>
          <p:cNvSpPr txBox="1"/>
          <p:nvPr/>
        </p:nvSpPr>
        <p:spPr>
          <a:xfrm>
            <a:off x="8412480" y="2788920"/>
            <a:ext cx="2880360" cy="5486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Re-engagement</a:t>
            </a:r>
            <a:endParaRPr dirty="0" sz="1600" lang="en-US"/>
          </a:p>
        </p:txBody>
      </p:sp>
      <p:sp>
        <p:nvSpPr>
          <p:cNvPr id="1048830" name="Text 16"/>
          <p:cNvSpPr txBox="1"/>
          <p:nvPr/>
        </p:nvSpPr>
        <p:spPr>
          <a:xfrm>
            <a:off x="8412480" y="3337560"/>
            <a:ext cx="2880360" cy="1508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and job-search support to pull discouraged workers back into the labor force, not just relief payments.</a:t>
            </a:r>
            <a:endParaRPr dirty="0" sz="1200" lang="en-US"/>
          </a:p>
        </p:txBody>
      </p:sp>
      <p:sp>
        <p:nvSpPr>
          <p:cNvPr id="1048831" name="Text 17"/>
          <p:cNvSpPr txBox="1"/>
          <p:nvPr/>
        </p:nvSpPr>
        <p:spPr>
          <a:xfrm>
            <a:off x="8412480" y="4892040"/>
            <a:ext cx="2880360" cy="3657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dirty="0" sz="950" i="1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LPR decline</a:t>
            </a:r>
            <a:endParaRPr dirty="0" sz="950" lang="en-US"/>
          </a:p>
        </p:txBody>
      </p:sp>
      <p:sp>
        <p:nvSpPr>
          <p:cNvPr id="1048832" name="Text 18"/>
          <p:cNvSpPr txBox="1"/>
          <p:nvPr/>
        </p:nvSpPr>
        <p:spPr>
          <a:xfrm>
            <a:off x="822960" y="5577840"/>
            <a:ext cx="98755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50" lang="en-US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r>
              <a:rPr dirty="0" sz="1250" lang="en-US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dataset past June 2020 to measure the recovery trajectory and quantify lag effects.</a:t>
            </a:r>
            <a:endParaRPr dirty="0" sz="1250" lang="en-US"/>
          </a:p>
        </p:txBody>
      </p:sp>
      <p:sp>
        <p:nvSpPr>
          <p:cNvPr id="1048833" name="Text 19"/>
          <p:cNvSpPr txBox="1"/>
          <p:nvPr/>
        </p:nvSpPr>
        <p:spPr>
          <a:xfrm>
            <a:off x="822960" y="6263640"/>
            <a:ext cx="73152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dirty="0" sz="1200" lang="en-US"/>
          </a:p>
        </p:txBody>
      </p:sp>
      <p:sp>
        <p:nvSpPr>
          <p:cNvPr id="1048834" name="Text 20"/>
          <p:cNvSpPr txBox="1"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2026-09-08T09:50:34Z</dcterms:created>
  <dcterms:modified xsi:type="dcterms:W3CDTF">2026-09-08T19:54:55Z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d7a4511ace854319a6abb4e8aa7fddae_23</vt:lpwstr>
  </property>
</Properties>
</file>